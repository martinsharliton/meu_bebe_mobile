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0"/>
  </p:notesMasterIdLst>
  <p:sldIdLst>
    <p:sldId id="256" r:id="rId2"/>
    <p:sldId id="257" r:id="rId3"/>
    <p:sldId id="258" r:id="rId4"/>
    <p:sldId id="271" r:id="rId5"/>
    <p:sldId id="261" r:id="rId6"/>
    <p:sldId id="272" r:id="rId7"/>
    <p:sldId id="259" r:id="rId8"/>
    <p:sldId id="260" r:id="rId9"/>
    <p:sldId id="262" r:id="rId10"/>
    <p:sldId id="273" r:id="rId11"/>
    <p:sldId id="263" r:id="rId12"/>
    <p:sldId id="276" r:id="rId13"/>
    <p:sldId id="277" r:id="rId14"/>
    <p:sldId id="274" r:id="rId15"/>
    <p:sldId id="266" r:id="rId16"/>
    <p:sldId id="267" r:id="rId17"/>
    <p:sldId id="268" r:id="rId18"/>
    <p:sldId id="269" r:id="rId19"/>
  </p:sldIdLst>
  <p:sldSz cx="9144000" cy="5143500" type="screen16x9"/>
  <p:notesSz cx="6858000" cy="9144000"/>
  <p:embeddedFontLst>
    <p:embeddedFont>
      <p:font typeface="Century Gothic" panose="020B0502020202020204" pitchFamily="34" charset="0"/>
      <p:regular r:id="rId21"/>
      <p:bold r:id="rId22"/>
      <p:italic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811E5BC-DF20-499A-A17A-B5CD9756F5C1}">
  <a:tblStyle styleId="{E811E5BC-DF20-499A-A17A-B5CD9756F5C1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D5ABB26-0587-4C30-8999-92F81FD0307C}" styleName="Nenhum Estilo, Nenhuma Grad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6" d="100"/>
          <a:sy n="146" d="100"/>
        </p:scale>
        <p:origin x="594" y="11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4" name="Google Shape;104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4" name="Google Shape;12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4" name="Google Shape;12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8598912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7" name="Google Shape;15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2a4df9d583e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6" name="Google Shape;146;g2a4df9d583e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655997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5" name="Google Shape;13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2a4df9d583e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6" name="Google Shape;146;g2a4df9d583e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8" name="Google Shape;16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68" name="Google Shape;16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46941767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83" name="Google Shape;18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3" name="Google Shape;18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62612932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3" name="Google Shape;18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94337951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5" name="Google Shape;20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5263034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7" name="Google Shape;21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8" name="Google Shape;22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39" name="Google Shape;23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0" name="Google Shape;250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DESCANSO DE TELA</a:t>
            </a:r>
            <a:endParaRPr/>
          </a:p>
        </p:txBody>
      </p:sp>
      <p:sp>
        <p:nvSpPr>
          <p:cNvPr id="251" name="Google Shape;251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18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de título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685800" y="1597820"/>
            <a:ext cx="7772400" cy="1102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dt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ft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dt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ft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sldNum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beçalho da Seção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dt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ft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sldNum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uas Partes de Conteúdo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body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body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dt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ft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ção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body" idx="3"/>
          </p:nvPr>
        </p:nvSpPr>
        <p:spPr>
          <a:xfrm>
            <a:off x="4645028" y="1151335"/>
            <a:ext cx="4041775" cy="479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body" idx="4"/>
          </p:nvPr>
        </p:nvSpPr>
        <p:spPr>
          <a:xfrm>
            <a:off x="4645028" y="1631156"/>
            <a:ext cx="4041775" cy="2963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dt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ft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sldNum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mente título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dt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ft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sldNum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m branco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>
            <a:spLocks noGrp="1"/>
          </p:cNvSpPr>
          <p:nvPr>
            <p:ph type="dt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ft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7" name="Google Shape;57;p8"/>
          <p:cNvSpPr txBox="1">
            <a:spLocks noGrp="1"/>
          </p:cNvSpPr>
          <p:nvPr>
            <p:ph type="sldNum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údo com Legenda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>
            <a:spLocks noGrp="1"/>
          </p:cNvSpPr>
          <p:nvPr>
            <p:ph type="title"/>
          </p:nvPr>
        </p:nvSpPr>
        <p:spPr>
          <a:xfrm>
            <a:off x="457202" y="204787"/>
            <a:ext cx="3008313" cy="871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1"/>
          </p:nvPr>
        </p:nvSpPr>
        <p:spPr>
          <a:xfrm>
            <a:off x="3575050" y="204789"/>
            <a:ext cx="5111750" cy="4389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body" idx="2"/>
          </p:nvPr>
        </p:nvSpPr>
        <p:spPr>
          <a:xfrm>
            <a:off x="457202" y="1076327"/>
            <a:ext cx="3008313" cy="3518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dt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ft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sldNum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m com Legenda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67" name="Google Shape;67;p10"/>
          <p:cNvSpPr>
            <a:spLocks noGrp="1"/>
          </p:cNvSpPr>
          <p:nvPr>
            <p:ph type="pic" idx="2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>
            <a:spLocks noGrp="1"/>
          </p:cNvSpPr>
          <p:nvPr>
            <p:ph type="body" idx="1"/>
          </p:nvPr>
        </p:nvSpPr>
        <p:spPr>
          <a:xfrm>
            <a:off x="1792288" y="4025504"/>
            <a:ext cx="5486400" cy="6036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dt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ft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sldNum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texto vertical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body" idx="1"/>
          </p:nvPr>
        </p:nvSpPr>
        <p:spPr>
          <a:xfrm rot="5400000">
            <a:off x="2874764" y="-1217413"/>
            <a:ext cx="3394472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dt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ft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sldNum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texto verticais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>
            <a:spLocks noGrp="1"/>
          </p:cNvSpPr>
          <p:nvPr>
            <p:ph type="title"/>
          </p:nvPr>
        </p:nvSpPr>
        <p:spPr>
          <a:xfrm rot="5400000">
            <a:off x="5463778" y="1371602"/>
            <a:ext cx="4388644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body" idx="1"/>
          </p:nvPr>
        </p:nvSpPr>
        <p:spPr>
          <a:xfrm rot="5400000">
            <a:off x="1272778" y="-609598"/>
            <a:ext cx="4388644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dt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ft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sldNum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7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slide" Target="slide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3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3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jp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3"/>
          <p:cNvSpPr/>
          <p:nvPr/>
        </p:nvSpPr>
        <p:spPr>
          <a:xfrm>
            <a:off x="-2" y="0"/>
            <a:ext cx="9144002" cy="3000378"/>
          </a:xfrm>
          <a:prstGeom prst="rect">
            <a:avLst/>
          </a:prstGeom>
          <a:solidFill>
            <a:srgbClr val="00314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3"/>
          <p:cNvSpPr/>
          <p:nvPr/>
        </p:nvSpPr>
        <p:spPr>
          <a:xfrm rot="10800000" flipH="1">
            <a:off x="2055575" y="2857626"/>
            <a:ext cx="7088400" cy="7857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3"/>
          <p:cNvSpPr txBox="1">
            <a:spLocks noGrp="1"/>
          </p:cNvSpPr>
          <p:nvPr>
            <p:ph type="ctrTitle"/>
          </p:nvPr>
        </p:nvSpPr>
        <p:spPr>
          <a:xfrm>
            <a:off x="2049670" y="199177"/>
            <a:ext cx="7094331" cy="729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500" b="1" dirty="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ANTÔNIO HÁRLITON MARTINS DE SOUZA</a:t>
            </a:r>
            <a:endParaRPr sz="1500" b="1" dirty="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2" name="Google Shape;92;p13"/>
          <p:cNvSpPr txBox="1"/>
          <p:nvPr/>
        </p:nvSpPr>
        <p:spPr>
          <a:xfrm>
            <a:off x="2499728" y="1178446"/>
            <a:ext cx="6608700" cy="139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2400" b="1" dirty="0">
                <a:solidFill>
                  <a:srgbClr val="FFC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IDENTIFICAÇÃO DO PERFIL DE GESTANTES QUE ABANDONAM O ACOMPANHAMENTO DO PRÉ-NATAL ASSOCIADO AOS DETERMINANTES SOCIAIS DA SAÚDE:</a:t>
            </a:r>
          </a:p>
        </p:txBody>
      </p:sp>
      <p:sp>
        <p:nvSpPr>
          <p:cNvPr id="93" name="Google Shape;93;p13"/>
          <p:cNvSpPr txBox="1"/>
          <p:nvPr/>
        </p:nvSpPr>
        <p:spPr>
          <a:xfrm>
            <a:off x="2963821" y="3740346"/>
            <a:ext cx="5085153" cy="714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entury Gothic"/>
              <a:buNone/>
            </a:pPr>
            <a:r>
              <a:rPr lang="pt-BR" sz="1500" b="1" i="0" u="none" strike="noStrike" cap="none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Orientador: </a:t>
            </a:r>
            <a:r>
              <a:rPr lang="pt-BR" sz="1500" b="0" i="0" u="none" strike="noStrike" cap="none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Prof. </a:t>
            </a:r>
            <a:r>
              <a:rPr lang="pt-BR" sz="15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MSc</a:t>
            </a:r>
            <a:r>
              <a:rPr lang="pt-BR" sz="1500" b="0" i="0" u="none" strike="noStrike" cap="none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. Benevaldo Pereira Gonçalves</a:t>
            </a:r>
            <a:endParaRPr sz="1500" b="0" i="0" u="none" strike="noStrike" cap="none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entury Gothic"/>
              <a:buNone/>
            </a:pPr>
            <a:r>
              <a:rPr lang="pt-BR" sz="1500" b="0" i="0" u="none" strike="noStrike" cap="none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                      </a:t>
            </a:r>
            <a:endParaRPr sz="1500" b="1" i="0" u="none" strike="noStrike" cap="none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4" name="Google Shape;94;p13"/>
          <p:cNvSpPr txBox="1"/>
          <p:nvPr/>
        </p:nvSpPr>
        <p:spPr>
          <a:xfrm>
            <a:off x="2060732" y="2893315"/>
            <a:ext cx="7072200" cy="7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600" b="1" dirty="0">
                <a:solidFill>
                  <a:srgbClr val="00314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UMA ABORDAGEM UTILIZANDO INTELIGÊNCIA ARTIFICIAL</a:t>
            </a:r>
          </a:p>
        </p:txBody>
      </p:sp>
      <p:sp>
        <p:nvSpPr>
          <p:cNvPr id="95" name="Google Shape;95;p13"/>
          <p:cNvSpPr/>
          <p:nvPr/>
        </p:nvSpPr>
        <p:spPr>
          <a:xfrm>
            <a:off x="2317362" y="2571751"/>
            <a:ext cx="482100" cy="397200"/>
          </a:xfrm>
          <a:prstGeom prst="triangle">
            <a:avLst>
              <a:gd name="adj" fmla="val 50000"/>
            </a:avLst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6" name="Google Shape;96;p13"/>
          <p:cNvPicPr preferRelativeResize="0"/>
          <p:nvPr/>
        </p:nvPicPr>
        <p:blipFill rotWithShape="1">
          <a:blip r:embed="rId3">
            <a:alphaModFix/>
          </a:blip>
          <a:srcRect r="72869"/>
          <a:stretch/>
        </p:blipFill>
        <p:spPr>
          <a:xfrm>
            <a:off x="1141419" y="283121"/>
            <a:ext cx="911201" cy="3152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3"/>
          <p:cNvPicPr preferRelativeResize="0"/>
          <p:nvPr/>
        </p:nvPicPr>
        <p:blipFill rotWithShape="1">
          <a:blip r:embed="rId4">
            <a:alphaModFix/>
          </a:blip>
          <a:srcRect r="48691"/>
          <a:stretch/>
        </p:blipFill>
        <p:spPr>
          <a:xfrm>
            <a:off x="1" y="259268"/>
            <a:ext cx="2052619" cy="488423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8" name="Google Shape;98;p13"/>
          <p:cNvCxnSpPr/>
          <p:nvPr/>
        </p:nvCxnSpPr>
        <p:spPr>
          <a:xfrm>
            <a:off x="2052620" y="123478"/>
            <a:ext cx="0" cy="3672408"/>
          </a:xfrm>
          <a:prstGeom prst="straightConnector1">
            <a:avLst/>
          </a:prstGeom>
          <a:noFill/>
          <a:ln w="19050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9" name="Google Shape;99;p13"/>
          <p:cNvSpPr txBox="1"/>
          <p:nvPr/>
        </p:nvSpPr>
        <p:spPr>
          <a:xfrm>
            <a:off x="1374373" y="4434666"/>
            <a:ext cx="1901483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BR" sz="1600" b="0" i="0" u="none" strike="noStrike" cap="non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www.ifam.edu.br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0" name="Google Shape;100;p13" descr="Logotipo&#10;&#10;Descrição gerada automaticamente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963234" y="4164304"/>
            <a:ext cx="868216" cy="86821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3" descr="Placa com letras pretas&#10;&#10;Descrição gerada automaticamente com confiança média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373690" y="4234324"/>
            <a:ext cx="2366308" cy="6545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111;p14">
            <a:extLst>
              <a:ext uri="{FF2B5EF4-FFF2-40B4-BE49-F238E27FC236}">
                <a16:creationId xmlns:a16="http://schemas.microsoft.com/office/drawing/2014/main" id="{878CFC55-30CF-B580-D770-7C34FF7F2167}"/>
              </a:ext>
            </a:extLst>
          </p:cNvPr>
          <p:cNvSpPr/>
          <p:nvPr/>
        </p:nvSpPr>
        <p:spPr>
          <a:xfrm rot="10800000" flipH="1">
            <a:off x="2046074" y="1282615"/>
            <a:ext cx="1443624" cy="35719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111;p14">
            <a:extLst>
              <a:ext uri="{FF2B5EF4-FFF2-40B4-BE49-F238E27FC236}">
                <a16:creationId xmlns:a16="http://schemas.microsoft.com/office/drawing/2014/main" id="{A7A8FBE0-887C-8D37-338A-B365B8BECC11}"/>
              </a:ext>
            </a:extLst>
          </p:cNvPr>
          <p:cNvSpPr/>
          <p:nvPr/>
        </p:nvSpPr>
        <p:spPr>
          <a:xfrm rot="10800000" flipH="1">
            <a:off x="2050438" y="1739545"/>
            <a:ext cx="1443624" cy="35719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111;p14">
            <a:extLst>
              <a:ext uri="{FF2B5EF4-FFF2-40B4-BE49-F238E27FC236}">
                <a16:creationId xmlns:a16="http://schemas.microsoft.com/office/drawing/2014/main" id="{E419DEA8-1C15-33EA-8164-EA269FEE45EE}"/>
              </a:ext>
            </a:extLst>
          </p:cNvPr>
          <p:cNvSpPr/>
          <p:nvPr/>
        </p:nvSpPr>
        <p:spPr>
          <a:xfrm rot="10800000" flipH="1">
            <a:off x="2050438" y="2195423"/>
            <a:ext cx="1443624" cy="35719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111;p14">
            <a:extLst>
              <a:ext uri="{FF2B5EF4-FFF2-40B4-BE49-F238E27FC236}">
                <a16:creationId xmlns:a16="http://schemas.microsoft.com/office/drawing/2014/main" id="{920B06D6-4489-4750-191C-AC4306C50539}"/>
              </a:ext>
            </a:extLst>
          </p:cNvPr>
          <p:cNvSpPr/>
          <p:nvPr/>
        </p:nvSpPr>
        <p:spPr>
          <a:xfrm rot="10800000" flipH="1">
            <a:off x="2054802" y="2652353"/>
            <a:ext cx="1443624" cy="35719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111;p14">
            <a:extLst>
              <a:ext uri="{FF2B5EF4-FFF2-40B4-BE49-F238E27FC236}">
                <a16:creationId xmlns:a16="http://schemas.microsoft.com/office/drawing/2014/main" id="{1D1F334E-5CA7-D272-BE4B-178CBBB7A26D}"/>
              </a:ext>
            </a:extLst>
          </p:cNvPr>
          <p:cNvSpPr/>
          <p:nvPr/>
        </p:nvSpPr>
        <p:spPr>
          <a:xfrm rot="10800000" flipH="1">
            <a:off x="2048256" y="3116159"/>
            <a:ext cx="1443624" cy="35719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111;p14">
            <a:extLst>
              <a:ext uri="{FF2B5EF4-FFF2-40B4-BE49-F238E27FC236}">
                <a16:creationId xmlns:a16="http://schemas.microsoft.com/office/drawing/2014/main" id="{908D6273-4194-CE72-F431-BE817D770E60}"/>
              </a:ext>
            </a:extLst>
          </p:cNvPr>
          <p:cNvSpPr/>
          <p:nvPr/>
        </p:nvSpPr>
        <p:spPr>
          <a:xfrm rot="10800000" flipH="1">
            <a:off x="2052620" y="3573089"/>
            <a:ext cx="1443624" cy="35719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111;p14">
            <a:extLst>
              <a:ext uri="{FF2B5EF4-FFF2-40B4-BE49-F238E27FC236}">
                <a16:creationId xmlns:a16="http://schemas.microsoft.com/office/drawing/2014/main" id="{3AF24F9E-F507-231B-D49E-2A73FA59D88C}"/>
              </a:ext>
            </a:extLst>
          </p:cNvPr>
          <p:cNvSpPr/>
          <p:nvPr/>
        </p:nvSpPr>
        <p:spPr>
          <a:xfrm rot="10800000" flipH="1">
            <a:off x="2041710" y="4012964"/>
            <a:ext cx="1443624" cy="35719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111;p14">
            <a:extLst>
              <a:ext uri="{FF2B5EF4-FFF2-40B4-BE49-F238E27FC236}">
                <a16:creationId xmlns:a16="http://schemas.microsoft.com/office/drawing/2014/main" id="{EDF97CC5-A637-8DE8-D948-DC8A7E08AC2F}"/>
              </a:ext>
            </a:extLst>
          </p:cNvPr>
          <p:cNvSpPr/>
          <p:nvPr/>
        </p:nvSpPr>
        <p:spPr>
          <a:xfrm rot="10800000" flipH="1">
            <a:off x="2046074" y="4469894"/>
            <a:ext cx="1443624" cy="35719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Google Shape;111;p14">
            <a:hlinkClick r:id="rId3" action="ppaction://hlinksldjump"/>
            <a:extLst>
              <a:ext uri="{FF2B5EF4-FFF2-40B4-BE49-F238E27FC236}">
                <a16:creationId xmlns:a16="http://schemas.microsoft.com/office/drawing/2014/main" id="{C37A0DF4-CC81-A3A9-4D84-6F3225237274}"/>
              </a:ext>
            </a:extLst>
          </p:cNvPr>
          <p:cNvSpPr/>
          <p:nvPr/>
        </p:nvSpPr>
        <p:spPr>
          <a:xfrm rot="10800000" flipH="1">
            <a:off x="2048256" y="361879"/>
            <a:ext cx="1443624" cy="35719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111;p14">
            <a:hlinkClick r:id="rId4" action="ppaction://hlinksldjump"/>
            <a:extLst>
              <a:ext uri="{FF2B5EF4-FFF2-40B4-BE49-F238E27FC236}">
                <a16:creationId xmlns:a16="http://schemas.microsoft.com/office/drawing/2014/main" id="{F38E159B-C6CF-A61B-1D3B-E757C329535A}"/>
              </a:ext>
            </a:extLst>
          </p:cNvPr>
          <p:cNvSpPr/>
          <p:nvPr/>
        </p:nvSpPr>
        <p:spPr>
          <a:xfrm rot="10800000" flipH="1">
            <a:off x="2052620" y="818809"/>
            <a:ext cx="1443624" cy="35719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/>
          <p:nvPr/>
        </p:nvSpPr>
        <p:spPr>
          <a:xfrm>
            <a:off x="-2" y="0"/>
            <a:ext cx="2048258" cy="3000378"/>
          </a:xfrm>
          <a:prstGeom prst="rect">
            <a:avLst/>
          </a:prstGeom>
          <a:solidFill>
            <a:srgbClr val="00314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4"/>
          <p:cNvSpPr txBox="1"/>
          <p:nvPr/>
        </p:nvSpPr>
        <p:spPr>
          <a:xfrm>
            <a:off x="2999534" y="572330"/>
            <a:ext cx="5072098" cy="4106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514350" marR="0" lvl="0" indent="-5143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25"/>
              <a:buFont typeface="Calibri"/>
              <a:buAutoNum type="arabicPeriod"/>
            </a:pPr>
            <a:r>
              <a:rPr lang="pt-BR" sz="20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INTRODUÇÃO</a:t>
            </a:r>
          </a:p>
          <a:p>
            <a:pPr marL="514350" marR="0" lvl="0" indent="-5143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25"/>
              <a:buFont typeface="Calibri"/>
              <a:buAutoNum type="arabicPeriod"/>
            </a:pPr>
            <a:r>
              <a:rPr lang="pt-BR" sz="20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PROBLEMATIZAÇÃO</a:t>
            </a:r>
          </a:p>
          <a:p>
            <a:pPr marL="514350" marR="0" lvl="0" indent="-5143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25"/>
              <a:buFont typeface="Calibri"/>
              <a:buAutoNum type="arabicPeriod"/>
            </a:pPr>
            <a:r>
              <a:rPr lang="pt-BR" sz="20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JUSTIFICATIVA</a:t>
            </a:r>
          </a:p>
          <a:p>
            <a:pPr marL="514350" marR="0" lvl="0" indent="-5143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25"/>
              <a:buFont typeface="Calibri"/>
              <a:buAutoNum type="arabicPeriod"/>
            </a:pPr>
            <a:r>
              <a:rPr lang="pt-BR" sz="20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HIPÓTESE E PERGUNTA NORTEADORA</a:t>
            </a:r>
            <a:endParaRPr lang="pt-BR" sz="20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14350" marR="0" lvl="0" indent="-5143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25"/>
              <a:buFont typeface="Calibri"/>
              <a:buAutoNum type="arabicPeriod"/>
            </a:pPr>
            <a:r>
              <a:rPr lang="pt-BR" sz="20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</a:t>
            </a:r>
          </a:p>
          <a:p>
            <a:pPr marL="514350" marR="0" lvl="0" indent="-5143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25"/>
              <a:buFont typeface="Calibri"/>
              <a:buAutoNum type="arabicPeriod"/>
            </a:pPr>
            <a:r>
              <a:rPr lang="pt-BR" sz="20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REFERENCIAL TEÓRICA</a:t>
            </a:r>
          </a:p>
          <a:p>
            <a:pPr marL="514350" marR="0" lvl="0" indent="-5143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25"/>
              <a:buFont typeface="Calibri"/>
              <a:buAutoNum type="arabicPeriod"/>
            </a:pPr>
            <a:r>
              <a:rPr lang="pt-BR" sz="20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METODOLOGIA</a:t>
            </a:r>
          </a:p>
          <a:p>
            <a:pPr marL="514350" marR="0" lvl="0" indent="-5143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25"/>
              <a:buFont typeface="Calibri"/>
              <a:buAutoNum type="arabicPeriod"/>
            </a:pPr>
            <a:r>
              <a:rPr lang="pt-BR" sz="20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CRONOGRAMA E ORÇAMENTO</a:t>
            </a:r>
          </a:p>
          <a:p>
            <a:pPr marL="514350" marR="0" lvl="0" indent="-5143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25"/>
              <a:buFont typeface="Calibri"/>
              <a:buAutoNum type="arabicPeriod"/>
            </a:pPr>
            <a:r>
              <a:rPr lang="pt-BR" sz="20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RESULTADOS ESPERADOS</a:t>
            </a:r>
          </a:p>
          <a:p>
            <a:pPr marL="514350" marR="0" lvl="0" indent="-5143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25"/>
              <a:buFont typeface="Calibri"/>
              <a:buAutoNum type="arabicPeriod"/>
            </a:pPr>
            <a:r>
              <a:rPr lang="pt-BR" sz="20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REFERÊNCIAS</a:t>
            </a:r>
          </a:p>
        </p:txBody>
      </p:sp>
      <p:pic>
        <p:nvPicPr>
          <p:cNvPr id="118" name="Google Shape;118;p14"/>
          <p:cNvPicPr preferRelativeResize="0"/>
          <p:nvPr/>
        </p:nvPicPr>
        <p:blipFill rotWithShape="1">
          <a:blip r:embed="rId5">
            <a:alphaModFix/>
          </a:blip>
          <a:srcRect r="72869"/>
          <a:stretch/>
        </p:blipFill>
        <p:spPr>
          <a:xfrm>
            <a:off x="1141419" y="283121"/>
            <a:ext cx="911201" cy="3152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4"/>
          <p:cNvPicPr preferRelativeResize="0"/>
          <p:nvPr/>
        </p:nvPicPr>
        <p:blipFill rotWithShape="1">
          <a:blip r:embed="rId6">
            <a:alphaModFix/>
          </a:blip>
          <a:srcRect r="48691"/>
          <a:stretch/>
        </p:blipFill>
        <p:spPr>
          <a:xfrm>
            <a:off x="1" y="259268"/>
            <a:ext cx="2052619" cy="488423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0" name="Google Shape;120;p14"/>
          <p:cNvCxnSpPr>
            <a:cxnSpLocks/>
          </p:cNvCxnSpPr>
          <p:nvPr/>
        </p:nvCxnSpPr>
        <p:spPr>
          <a:xfrm flipH="1">
            <a:off x="2044983" y="0"/>
            <a:ext cx="7637" cy="4827084"/>
          </a:xfrm>
          <a:prstGeom prst="straightConnector1">
            <a:avLst/>
          </a:prstGeom>
          <a:noFill/>
          <a:ln w="19050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21" name="Google Shape;121;p14" descr="Logotipo&#10;&#10;Descrição gerada automaticamente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353782" y="4373297"/>
            <a:ext cx="614826" cy="6148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15" descr="Logotipo&#10;&#10;Descrição gerada automaticament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53782" y="4373297"/>
            <a:ext cx="614826" cy="614826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5"/>
          <p:cNvSpPr/>
          <p:nvPr/>
        </p:nvSpPr>
        <p:spPr>
          <a:xfrm>
            <a:off x="-2" y="0"/>
            <a:ext cx="9144002" cy="766025"/>
          </a:xfrm>
          <a:prstGeom prst="rect">
            <a:avLst/>
          </a:prstGeom>
          <a:solidFill>
            <a:srgbClr val="00314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5"/>
          <p:cNvSpPr txBox="1">
            <a:spLocks noGrp="1"/>
          </p:cNvSpPr>
          <p:nvPr>
            <p:ph type="subTitle" idx="1"/>
          </p:nvPr>
        </p:nvSpPr>
        <p:spPr>
          <a:xfrm>
            <a:off x="1263831" y="1021433"/>
            <a:ext cx="6616338" cy="35636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11150" indent="-285750" algn="just"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pt-BR" sz="1600" b="1" dirty="0">
                <a:solidFill>
                  <a:schemeClr val="tx1"/>
                </a:solidFill>
              </a:rPr>
              <a:t>Pré-natal como estratégia de saúde pública</a:t>
            </a:r>
          </a:p>
          <a:p>
            <a:pPr marL="768350" lvl="1" indent="-285750" algn="just">
              <a:buClr>
                <a:schemeClr val="tx1"/>
              </a:buClr>
              <a:buSzPct val="100000"/>
              <a:buFont typeface="Courier New" panose="02070309020205020404" pitchFamily="49" charset="0"/>
              <a:buChar char="o"/>
            </a:pPr>
            <a:r>
              <a:rPr lang="pt-BR" sz="1600" dirty="0">
                <a:solidFill>
                  <a:schemeClr val="tx1"/>
                </a:solidFill>
              </a:rPr>
              <a:t>O acompanhamento pré-natal é essencial para prevenir complicações na gestação e garantir saúde materno-infantil.</a:t>
            </a:r>
          </a:p>
          <a:p>
            <a:pPr marL="482600" lvl="1" indent="0" algn="just">
              <a:buClr>
                <a:schemeClr val="tx1"/>
              </a:buClr>
              <a:buSzPct val="100000"/>
            </a:pPr>
            <a:endParaRPr lang="pt-BR" sz="1600" b="1" dirty="0">
              <a:solidFill>
                <a:schemeClr val="tx1"/>
              </a:solidFill>
            </a:endParaRPr>
          </a:p>
          <a:p>
            <a:pPr marL="311150" indent="-285750" algn="just"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pt-BR" sz="1600" b="1" dirty="0">
                <a:solidFill>
                  <a:schemeClr val="tx1"/>
                </a:solidFill>
              </a:rPr>
              <a:t>Desigualdade social interfere no acesso ao pré-natal</a:t>
            </a:r>
          </a:p>
          <a:p>
            <a:pPr marL="768350" lvl="1" indent="-285750" algn="just">
              <a:buClr>
                <a:schemeClr val="tx1"/>
              </a:buClr>
              <a:buSzPct val="100000"/>
              <a:buFont typeface="Courier New" panose="02070309020205020404" pitchFamily="49" charset="0"/>
              <a:buChar char="o"/>
            </a:pPr>
            <a:r>
              <a:rPr lang="pt-BR" sz="1600" dirty="0">
                <a:solidFill>
                  <a:schemeClr val="tx1"/>
                </a:solidFill>
              </a:rPr>
              <a:t>Gravidez marcadas por obstáculos como distância, falta de apoio e baixa renda.</a:t>
            </a:r>
          </a:p>
          <a:p>
            <a:pPr marL="482600" lvl="1" indent="0" algn="just">
              <a:buClr>
                <a:schemeClr val="tx1"/>
              </a:buClr>
              <a:buSzPct val="100000"/>
            </a:pPr>
            <a:endParaRPr lang="pt-BR" sz="1600" b="1" dirty="0">
              <a:solidFill>
                <a:schemeClr val="tx1"/>
              </a:solidFill>
            </a:endParaRPr>
          </a:p>
          <a:p>
            <a:pPr marL="311150" indent="-285750" algn="just"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pt-BR" sz="1600" b="1" dirty="0">
                <a:solidFill>
                  <a:schemeClr val="tx1"/>
                </a:solidFill>
              </a:rPr>
              <a:t>IA para antecipar riscos e ampliar o cuidado</a:t>
            </a:r>
          </a:p>
          <a:p>
            <a:pPr marL="768350" lvl="1" indent="-285750" algn="just">
              <a:buClr>
                <a:schemeClr val="tx1"/>
              </a:buClr>
              <a:buSzPct val="100000"/>
              <a:buFont typeface="Courier New" panose="02070309020205020404" pitchFamily="49" charset="0"/>
              <a:buChar char="o"/>
            </a:pPr>
            <a:r>
              <a:rPr lang="pt-BR" sz="1600" dirty="0">
                <a:solidFill>
                  <a:schemeClr val="tx1"/>
                </a:solidFill>
              </a:rPr>
              <a:t>O uso de inteligência artificial permite prever situações de abandono e fortalecer a atenção a quem mais precisa.</a:t>
            </a:r>
          </a:p>
        </p:txBody>
      </p:sp>
      <p:sp>
        <p:nvSpPr>
          <p:cNvPr id="129" name="Google Shape;129;p15"/>
          <p:cNvSpPr txBox="1"/>
          <p:nvPr/>
        </p:nvSpPr>
        <p:spPr>
          <a:xfrm>
            <a:off x="539552" y="-1"/>
            <a:ext cx="8604448" cy="76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Century Gothic"/>
              <a:buNone/>
            </a:pPr>
            <a:r>
              <a:rPr lang="pt-BR" sz="2500" b="1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Introdução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0" name="Google Shape;130;p15"/>
          <p:cNvCxnSpPr/>
          <p:nvPr/>
        </p:nvCxnSpPr>
        <p:spPr>
          <a:xfrm>
            <a:off x="251520" y="142858"/>
            <a:ext cx="0" cy="484676"/>
          </a:xfrm>
          <a:prstGeom prst="straightConnector1">
            <a:avLst/>
          </a:prstGeom>
          <a:noFill/>
          <a:ln w="38100" cap="flat" cmpd="sng">
            <a:solidFill>
              <a:srgbClr val="FFC00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</p:cxnSp>
      <p:sp>
        <p:nvSpPr>
          <p:cNvPr id="131" name="Google Shape;131;p15"/>
          <p:cNvSpPr/>
          <p:nvPr/>
        </p:nvSpPr>
        <p:spPr>
          <a:xfrm>
            <a:off x="8172400" y="464883"/>
            <a:ext cx="482208" cy="325301"/>
          </a:xfrm>
          <a:prstGeom prst="triangle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5"/>
          <p:cNvSpPr txBox="1">
            <a:spLocks noGrp="1"/>
          </p:cNvSpPr>
          <p:nvPr>
            <p:ph type="sldNum" idx="12"/>
          </p:nvPr>
        </p:nvSpPr>
        <p:spPr>
          <a:xfrm>
            <a:off x="7924800" y="4767264"/>
            <a:ext cx="428982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pt-BR" dirty="0"/>
              <a:t>1</a:t>
            </a:r>
            <a:endParaRPr dirty="0"/>
          </a:p>
        </p:txBody>
      </p:sp>
    </p:spTree>
  </p:cSld>
  <p:clrMapOvr>
    <a:masterClrMapping/>
  </p:clrMapOvr>
  <p:transition spd="slow">
    <p:push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15" descr="Logotipo&#10;&#10;Descrição gerada automaticament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53782" y="4373297"/>
            <a:ext cx="614826" cy="614826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5"/>
          <p:cNvSpPr/>
          <p:nvPr/>
        </p:nvSpPr>
        <p:spPr>
          <a:xfrm>
            <a:off x="-2" y="0"/>
            <a:ext cx="9144002" cy="766025"/>
          </a:xfrm>
          <a:prstGeom prst="rect">
            <a:avLst/>
          </a:prstGeom>
          <a:solidFill>
            <a:srgbClr val="00314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5"/>
          <p:cNvSpPr txBox="1">
            <a:spLocks noGrp="1"/>
          </p:cNvSpPr>
          <p:nvPr>
            <p:ph type="subTitle" idx="1"/>
          </p:nvPr>
        </p:nvSpPr>
        <p:spPr>
          <a:xfrm>
            <a:off x="1263831" y="1449976"/>
            <a:ext cx="6616338" cy="3195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just"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pt-BR" sz="1600" b="1" dirty="0">
                <a:solidFill>
                  <a:schemeClr val="tx1"/>
                </a:solidFill>
              </a:rPr>
              <a:t>Alta taxa de abandono em contextos críticos</a:t>
            </a:r>
          </a:p>
          <a:p>
            <a:pPr lvl="1" algn="just">
              <a:buClr>
                <a:schemeClr val="tx1"/>
              </a:buClr>
              <a:buSzPct val="100000"/>
              <a:buFont typeface="Courier New" panose="02070309020205020404" pitchFamily="49" charset="0"/>
              <a:buChar char="o"/>
            </a:pPr>
            <a:r>
              <a:rPr lang="pt-BR" sz="1600" dirty="0">
                <a:solidFill>
                  <a:schemeClr val="tx1"/>
                </a:solidFill>
              </a:rPr>
              <a:t>Muitas gestantes não conseguem manter o pré-natal por razões além da escolha individual.</a:t>
            </a:r>
          </a:p>
          <a:p>
            <a:pPr algn="just"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endParaRPr lang="pt-BR" sz="1600" b="1" dirty="0">
              <a:solidFill>
                <a:schemeClr val="tx1"/>
              </a:solidFill>
            </a:endParaRPr>
          </a:p>
          <a:p>
            <a:pPr algn="just"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pt-BR" sz="1600" b="1" dirty="0">
                <a:solidFill>
                  <a:schemeClr val="tx1"/>
                </a:solidFill>
              </a:rPr>
              <a:t>Fatores sociais atuam em conjunto e dificultam a adesão</a:t>
            </a:r>
          </a:p>
          <a:p>
            <a:pPr lvl="1" algn="just">
              <a:buClr>
                <a:schemeClr val="tx1"/>
              </a:buClr>
              <a:buSzPct val="100000"/>
              <a:buFont typeface="Courier New" panose="02070309020205020404" pitchFamily="49" charset="0"/>
              <a:buChar char="o"/>
            </a:pPr>
            <a:r>
              <a:rPr lang="pt-BR" sz="1600" dirty="0">
                <a:solidFill>
                  <a:schemeClr val="tx1"/>
                </a:solidFill>
              </a:rPr>
              <a:t>Determinantes Sociais de Saúde agem de forma interligada.</a:t>
            </a:r>
          </a:p>
          <a:p>
            <a:pPr algn="just"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endParaRPr lang="pt-BR" sz="1600" b="1" dirty="0">
              <a:solidFill>
                <a:schemeClr val="tx1"/>
              </a:solidFill>
            </a:endParaRPr>
          </a:p>
          <a:p>
            <a:pPr algn="just"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pt-BR" sz="1600" b="1" dirty="0">
                <a:solidFill>
                  <a:schemeClr val="tx1"/>
                </a:solidFill>
              </a:rPr>
              <a:t>Falta de métodos eficazes para identificar os perfis mais afetados</a:t>
            </a:r>
          </a:p>
          <a:p>
            <a:pPr lvl="1" algn="just">
              <a:buClr>
                <a:schemeClr val="tx1"/>
              </a:buClr>
              <a:buSzPct val="100000"/>
              <a:buFont typeface="Courier New" panose="02070309020205020404" pitchFamily="49" charset="0"/>
              <a:buChar char="o"/>
            </a:pPr>
            <a:r>
              <a:rPr lang="pt-BR" sz="1600" dirty="0">
                <a:solidFill>
                  <a:schemeClr val="tx1"/>
                </a:solidFill>
              </a:rPr>
              <a:t>Análises tradicionais não captam a complexidade dos contextos, dificultando políticas realmente eficazes.</a:t>
            </a:r>
          </a:p>
        </p:txBody>
      </p:sp>
      <p:sp>
        <p:nvSpPr>
          <p:cNvPr id="129" name="Google Shape;129;p15"/>
          <p:cNvSpPr txBox="1"/>
          <p:nvPr/>
        </p:nvSpPr>
        <p:spPr>
          <a:xfrm>
            <a:off x="539552" y="-1"/>
            <a:ext cx="8604448" cy="76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Century Gothic"/>
              <a:buNone/>
            </a:pPr>
            <a:r>
              <a:rPr lang="pt-BR" sz="2500" b="1" dirty="0">
                <a:solidFill>
                  <a:schemeClr val="lt1"/>
                </a:solidFill>
                <a:latin typeface="Century Gothic"/>
                <a:sym typeface="Century Gothic"/>
              </a:rPr>
              <a:t>Problematização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0" name="Google Shape;130;p15"/>
          <p:cNvCxnSpPr/>
          <p:nvPr/>
        </p:nvCxnSpPr>
        <p:spPr>
          <a:xfrm>
            <a:off x="251520" y="142858"/>
            <a:ext cx="0" cy="484676"/>
          </a:xfrm>
          <a:prstGeom prst="straightConnector1">
            <a:avLst/>
          </a:prstGeom>
          <a:noFill/>
          <a:ln w="38100" cap="flat" cmpd="sng">
            <a:solidFill>
              <a:srgbClr val="FFC00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</p:cxnSp>
      <p:sp>
        <p:nvSpPr>
          <p:cNvPr id="131" name="Google Shape;131;p15"/>
          <p:cNvSpPr/>
          <p:nvPr/>
        </p:nvSpPr>
        <p:spPr>
          <a:xfrm>
            <a:off x="8172400" y="464883"/>
            <a:ext cx="482208" cy="325301"/>
          </a:xfrm>
          <a:prstGeom prst="triangle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5"/>
          <p:cNvSpPr txBox="1">
            <a:spLocks noGrp="1"/>
          </p:cNvSpPr>
          <p:nvPr>
            <p:ph type="sldNum" idx="12"/>
          </p:nvPr>
        </p:nvSpPr>
        <p:spPr>
          <a:xfrm>
            <a:off x="7924800" y="4767264"/>
            <a:ext cx="428982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pt-BR" dirty="0"/>
              <a:t>2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79006290"/>
      </p:ext>
    </p:extLst>
  </p:cSld>
  <p:clrMapOvr>
    <a:masterClrMapping/>
  </p:clrMapOvr>
  <p:transition spd="slow">
    <p:push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8"/>
          <p:cNvSpPr/>
          <p:nvPr/>
        </p:nvSpPr>
        <p:spPr>
          <a:xfrm>
            <a:off x="-2" y="0"/>
            <a:ext cx="9144002" cy="766025"/>
          </a:xfrm>
          <a:prstGeom prst="rect">
            <a:avLst/>
          </a:prstGeom>
          <a:solidFill>
            <a:srgbClr val="00314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0" name="Google Shape;160;p18"/>
          <p:cNvCxnSpPr/>
          <p:nvPr/>
        </p:nvCxnSpPr>
        <p:spPr>
          <a:xfrm>
            <a:off x="251520" y="142858"/>
            <a:ext cx="0" cy="484676"/>
          </a:xfrm>
          <a:prstGeom prst="straightConnector1">
            <a:avLst/>
          </a:prstGeom>
          <a:noFill/>
          <a:ln w="38100" cap="flat" cmpd="sng">
            <a:solidFill>
              <a:srgbClr val="FFC00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</p:cxnSp>
      <p:sp>
        <p:nvSpPr>
          <p:cNvPr id="161" name="Google Shape;161;p18"/>
          <p:cNvSpPr/>
          <p:nvPr/>
        </p:nvSpPr>
        <p:spPr>
          <a:xfrm>
            <a:off x="8172400" y="464883"/>
            <a:ext cx="482208" cy="325301"/>
          </a:xfrm>
          <a:prstGeom prst="triangle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8"/>
          <p:cNvSpPr txBox="1">
            <a:spLocks noGrp="1"/>
          </p:cNvSpPr>
          <p:nvPr>
            <p:ph type="subTitle" idx="1"/>
          </p:nvPr>
        </p:nvSpPr>
        <p:spPr>
          <a:xfrm>
            <a:off x="862037" y="992874"/>
            <a:ext cx="7419926" cy="3428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11150" indent="-285750" algn="just"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pt-BR" sz="1600" b="1" dirty="0">
                <a:solidFill>
                  <a:schemeClr val="tx1"/>
                </a:solidFill>
              </a:rPr>
              <a:t>Necessidade de novas abordagens para um problema antigo</a:t>
            </a:r>
          </a:p>
          <a:p>
            <a:pPr marL="768350" lvl="1" indent="-285750" algn="just">
              <a:buClr>
                <a:schemeClr val="tx1"/>
              </a:buClr>
              <a:buSzPct val="100000"/>
              <a:buFont typeface="Courier New" panose="02070309020205020404" pitchFamily="49" charset="0"/>
              <a:buChar char="o"/>
            </a:pPr>
            <a:r>
              <a:rPr lang="pt-BR" sz="1600" dirty="0">
                <a:solidFill>
                  <a:schemeClr val="tx1"/>
                </a:solidFill>
              </a:rPr>
              <a:t>O abandono do pré-natal persiste, exigindo soluções mais inteligentes e adaptadas à realidade social.</a:t>
            </a:r>
          </a:p>
          <a:p>
            <a:pPr marL="482600" lvl="1" indent="0" algn="just">
              <a:buClr>
                <a:schemeClr val="tx1"/>
              </a:buClr>
              <a:buSzPct val="100000"/>
            </a:pPr>
            <a:endParaRPr lang="pt-BR" sz="1600" b="1" dirty="0">
              <a:solidFill>
                <a:schemeClr val="tx1"/>
              </a:solidFill>
            </a:endParaRPr>
          </a:p>
          <a:p>
            <a:pPr marL="311150" indent="-285750" algn="just"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pt-BR" sz="1600" b="1" dirty="0">
                <a:solidFill>
                  <a:schemeClr val="tx1"/>
                </a:solidFill>
              </a:rPr>
              <a:t>Inteligência artificial como ferramenta estratégica</a:t>
            </a:r>
          </a:p>
          <a:p>
            <a:pPr marL="768350" lvl="1" indent="-285750" algn="just">
              <a:buClr>
                <a:schemeClr val="tx1"/>
              </a:buClr>
              <a:buSzPct val="100000"/>
              <a:buFont typeface="Courier New" panose="02070309020205020404" pitchFamily="49" charset="0"/>
              <a:buChar char="o"/>
            </a:pPr>
            <a:r>
              <a:rPr lang="pt-BR" sz="1600" dirty="0">
                <a:solidFill>
                  <a:schemeClr val="tx1"/>
                </a:solidFill>
              </a:rPr>
              <a:t>Redes neurais conseguem interpretar grandes volumes de dados e revelar padrões que escapam à análise comum.</a:t>
            </a:r>
          </a:p>
          <a:p>
            <a:pPr marL="482600" lvl="1" indent="0" algn="just">
              <a:buClr>
                <a:schemeClr val="tx1"/>
              </a:buClr>
              <a:buSzPct val="100000"/>
            </a:pPr>
            <a:endParaRPr lang="pt-BR" sz="1600" b="1" dirty="0">
              <a:solidFill>
                <a:schemeClr val="tx1"/>
              </a:solidFill>
            </a:endParaRPr>
          </a:p>
          <a:p>
            <a:pPr marL="311150" indent="-285750" algn="just"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pt-BR" sz="1600" b="1" dirty="0">
                <a:solidFill>
                  <a:schemeClr val="tx1"/>
                </a:solidFill>
              </a:rPr>
              <a:t>Potencial de impacto em políticas públicas e ações preventivas</a:t>
            </a:r>
          </a:p>
          <a:p>
            <a:pPr marL="768350" lvl="1" indent="-285750" algn="just">
              <a:buClr>
                <a:schemeClr val="tx1"/>
              </a:buClr>
              <a:buSzPct val="100000"/>
              <a:buFont typeface="Courier New" panose="02070309020205020404" pitchFamily="49" charset="0"/>
              <a:buChar char="o"/>
            </a:pPr>
            <a:r>
              <a:rPr lang="pt-BR" sz="1600" dirty="0">
                <a:solidFill>
                  <a:schemeClr val="tx1"/>
                </a:solidFill>
              </a:rPr>
              <a:t>O modelo proposto pode orientar intervenções mais rápidas, personalizadas e justas, beneficiando gestantes em maior risco.</a:t>
            </a:r>
          </a:p>
        </p:txBody>
      </p:sp>
      <p:sp>
        <p:nvSpPr>
          <p:cNvPr id="163" name="Google Shape;163;p18"/>
          <p:cNvSpPr txBox="1"/>
          <p:nvPr/>
        </p:nvSpPr>
        <p:spPr>
          <a:xfrm>
            <a:off x="539552" y="0"/>
            <a:ext cx="8604448" cy="6995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Century Gothic"/>
              <a:buNone/>
            </a:pPr>
            <a:r>
              <a:rPr lang="pt-BR" sz="2500" b="1" i="0" u="none" strike="noStrike" cap="none" dirty="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Justificativa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4" name="Google Shape;164;p18" descr="Logotipo&#10;&#10;Descrição gerada automaticament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53782" y="4373297"/>
            <a:ext cx="614826" cy="614826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8"/>
          <p:cNvSpPr txBox="1">
            <a:spLocks noGrp="1"/>
          </p:cNvSpPr>
          <p:nvPr>
            <p:ph type="sldNum" idx="12"/>
          </p:nvPr>
        </p:nvSpPr>
        <p:spPr>
          <a:xfrm>
            <a:off x="7924800" y="4767264"/>
            <a:ext cx="428982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pt-BR" dirty="0"/>
              <a:t>3</a:t>
            </a:r>
            <a:endParaRPr dirty="0"/>
          </a:p>
        </p:txBody>
      </p:sp>
    </p:spTree>
  </p:cSld>
  <p:clrMapOvr>
    <a:masterClrMapping/>
  </p:clrMapOvr>
  <p:transition spd="slow">
    <p:push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7"/>
          <p:cNvSpPr/>
          <p:nvPr/>
        </p:nvSpPr>
        <p:spPr>
          <a:xfrm>
            <a:off x="-2" y="0"/>
            <a:ext cx="9144000" cy="765900"/>
          </a:xfrm>
          <a:prstGeom prst="rect">
            <a:avLst/>
          </a:prstGeom>
          <a:solidFill>
            <a:srgbClr val="00314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9" name="Google Shape;149;p17"/>
          <p:cNvCxnSpPr/>
          <p:nvPr/>
        </p:nvCxnSpPr>
        <p:spPr>
          <a:xfrm>
            <a:off x="251520" y="142858"/>
            <a:ext cx="0" cy="484800"/>
          </a:xfrm>
          <a:prstGeom prst="straightConnector1">
            <a:avLst/>
          </a:prstGeom>
          <a:noFill/>
          <a:ln w="38100" cap="flat" cmpd="sng">
            <a:solidFill>
              <a:srgbClr val="FFC00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510"/>
              </a:srgbClr>
            </a:outerShdw>
          </a:effectLst>
        </p:spPr>
      </p:cxnSp>
      <p:sp>
        <p:nvSpPr>
          <p:cNvPr id="150" name="Google Shape;150;p17"/>
          <p:cNvSpPr/>
          <p:nvPr/>
        </p:nvSpPr>
        <p:spPr>
          <a:xfrm>
            <a:off x="8172400" y="464883"/>
            <a:ext cx="482100" cy="325200"/>
          </a:xfrm>
          <a:prstGeom prst="triangle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7"/>
          <p:cNvSpPr txBox="1"/>
          <p:nvPr/>
        </p:nvSpPr>
        <p:spPr>
          <a:xfrm>
            <a:off x="539552" y="0"/>
            <a:ext cx="8604300" cy="69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Century Gothic"/>
              <a:buNone/>
            </a:pPr>
            <a:r>
              <a:rPr lang="pt-BR" sz="2500" b="1" dirty="0">
                <a:solidFill>
                  <a:schemeClr val="lt1"/>
                </a:solidFill>
                <a:latin typeface="Century Gothic"/>
                <a:sym typeface="Century Gothic"/>
              </a:rPr>
              <a:t>Hipótese e Pergunta Norteadora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17"/>
          <p:cNvSpPr txBox="1">
            <a:spLocks noGrp="1"/>
          </p:cNvSpPr>
          <p:nvPr>
            <p:ph type="subTitle" idx="1"/>
          </p:nvPr>
        </p:nvSpPr>
        <p:spPr>
          <a:xfrm>
            <a:off x="772350" y="1517266"/>
            <a:ext cx="7599300" cy="23754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lvl="0" indent="-285750" algn="just" rtl="0">
              <a:spcBef>
                <a:spcPts val="40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pt-BR" sz="1600" b="1" dirty="0">
                <a:solidFill>
                  <a:schemeClr val="tx1"/>
                </a:solidFill>
              </a:rPr>
              <a:t>HIPÓTESE </a:t>
            </a:r>
          </a:p>
          <a:p>
            <a:pPr marL="0" lvl="0" indent="0" algn="just" rtl="0">
              <a:spcBef>
                <a:spcPts val="40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chemeClr val="tx1"/>
                </a:solidFill>
              </a:rPr>
              <a:t>Os determinantes sociais de saúde estão fortemente associados ao abandono do acompanhamento pré-natal. Um modelo de Redes Neurais é capaz de identificar padrões consistentes nesses fatores. </a:t>
            </a:r>
          </a:p>
          <a:p>
            <a:pPr marL="0" lvl="0" indent="0" algn="just" rtl="0">
              <a:spcBef>
                <a:spcPts val="400"/>
              </a:spcBef>
              <a:spcAft>
                <a:spcPts val="0"/>
              </a:spcAft>
              <a:buNone/>
            </a:pPr>
            <a:endParaRPr lang="pt-BR" sz="1600" b="1" dirty="0">
              <a:solidFill>
                <a:schemeClr val="tx1"/>
              </a:solidFill>
            </a:endParaRPr>
          </a:p>
          <a:p>
            <a:pPr marL="285750" lvl="0" indent="-285750" algn="just" rtl="0">
              <a:spcBef>
                <a:spcPts val="40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pt-BR" sz="1600" b="1" dirty="0">
                <a:solidFill>
                  <a:schemeClr val="tx1"/>
                </a:solidFill>
              </a:rPr>
              <a:t>PERGUNTA NORTEADORA </a:t>
            </a:r>
          </a:p>
          <a:p>
            <a:pPr marL="0" lvl="0" indent="0" algn="just" rtl="0">
              <a:spcBef>
                <a:spcPts val="40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chemeClr val="tx1"/>
                </a:solidFill>
              </a:rPr>
              <a:t>Quais são os principais determinantes sociais da saúde que influenciam no abandono do pré-natal e como a inteligência artificial pode identificar esses padrões?</a:t>
            </a:r>
            <a:endParaRPr sz="1600" dirty="0">
              <a:solidFill>
                <a:schemeClr val="tx1"/>
              </a:solidFill>
            </a:endParaRPr>
          </a:p>
        </p:txBody>
      </p:sp>
      <p:pic>
        <p:nvPicPr>
          <p:cNvPr id="153" name="Google Shape;153;p17" descr="Logotipo&#10;&#10;Descrição gerada automaticament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53782" y="4373297"/>
            <a:ext cx="614826" cy="614826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7"/>
          <p:cNvSpPr txBox="1">
            <a:spLocks noGrp="1"/>
          </p:cNvSpPr>
          <p:nvPr>
            <p:ph type="sldNum" idx="12"/>
          </p:nvPr>
        </p:nvSpPr>
        <p:spPr>
          <a:xfrm>
            <a:off x="7924800" y="4767264"/>
            <a:ext cx="4290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pt-BR" dirty="0"/>
              <a:t>4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46757854"/>
      </p:ext>
    </p:extLst>
  </p:cSld>
  <p:clrMapOvr>
    <a:masterClrMapping/>
  </p:clrMapOvr>
  <p:transition spd="slow">
    <p:push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6"/>
          <p:cNvSpPr/>
          <p:nvPr/>
        </p:nvSpPr>
        <p:spPr>
          <a:xfrm>
            <a:off x="-2" y="0"/>
            <a:ext cx="9144002" cy="766025"/>
          </a:xfrm>
          <a:prstGeom prst="rect">
            <a:avLst/>
          </a:prstGeom>
          <a:solidFill>
            <a:srgbClr val="00314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8" name="Google Shape;138;p16"/>
          <p:cNvCxnSpPr/>
          <p:nvPr/>
        </p:nvCxnSpPr>
        <p:spPr>
          <a:xfrm>
            <a:off x="251520" y="142858"/>
            <a:ext cx="0" cy="484676"/>
          </a:xfrm>
          <a:prstGeom prst="straightConnector1">
            <a:avLst/>
          </a:prstGeom>
          <a:noFill/>
          <a:ln w="38100" cap="flat" cmpd="sng">
            <a:solidFill>
              <a:srgbClr val="FFC00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</p:cxnSp>
      <p:sp>
        <p:nvSpPr>
          <p:cNvPr id="139" name="Google Shape;139;p16"/>
          <p:cNvSpPr/>
          <p:nvPr/>
        </p:nvSpPr>
        <p:spPr>
          <a:xfrm>
            <a:off x="8172400" y="464883"/>
            <a:ext cx="482208" cy="325301"/>
          </a:xfrm>
          <a:prstGeom prst="triangle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6"/>
          <p:cNvSpPr txBox="1"/>
          <p:nvPr/>
        </p:nvSpPr>
        <p:spPr>
          <a:xfrm>
            <a:off x="539552" y="0"/>
            <a:ext cx="8604448" cy="6995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Century Gothic"/>
              <a:buNone/>
            </a:pPr>
            <a:r>
              <a:rPr lang="pt-BR" sz="2500" b="1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Objetivos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16"/>
          <p:cNvSpPr txBox="1">
            <a:spLocks noGrp="1"/>
          </p:cNvSpPr>
          <p:nvPr>
            <p:ph type="subTitle" idx="1"/>
          </p:nvPr>
        </p:nvSpPr>
        <p:spPr>
          <a:xfrm>
            <a:off x="683569" y="1285866"/>
            <a:ext cx="7599194" cy="3429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000"/>
              <a:buFont typeface="Arial"/>
              <a:buNone/>
            </a:pPr>
            <a:r>
              <a:rPr lang="pt-BR" sz="3000" b="1" i="0" u="none" strike="noStrike" cap="none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Objetivo Geral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000"/>
              <a:buFont typeface="Arial"/>
              <a:buNone/>
            </a:pPr>
            <a:endParaRPr lang="pt-BR" sz="3000" b="1" dirty="0">
              <a:solidFill>
                <a:srgbClr val="FF0000"/>
              </a:solidFill>
            </a:endParaRPr>
          </a:p>
          <a:p>
            <a:pPr marL="0" lvl="0" indent="0" algn="just" rtl="0">
              <a:spcBef>
                <a:spcPts val="440"/>
              </a:spcBef>
              <a:spcAft>
                <a:spcPts val="0"/>
              </a:spcAft>
              <a:buClr>
                <a:srgbClr val="E36C09"/>
              </a:buClr>
              <a:buSzPts val="2200"/>
            </a:pPr>
            <a:r>
              <a:rPr lang="pt-BR" sz="2200" b="1" dirty="0">
                <a:solidFill>
                  <a:schemeClr val="dk1"/>
                </a:solidFill>
              </a:rPr>
              <a:t>Identificar o perfil de gestantes que abandonam o acompanhamento do pré-natal associado aos determinantes sociais da saúde, utilizando IA.</a:t>
            </a:r>
            <a:endParaRPr lang="pt-BR" sz="2000" b="1" i="0" u="none" strike="noStrike" cap="none" dirty="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2" name="Google Shape;142;p16" descr="Logotipo&#10;&#10;Descrição gerada automaticament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53782" y="4373297"/>
            <a:ext cx="614826" cy="614826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6"/>
          <p:cNvSpPr txBox="1">
            <a:spLocks noGrp="1"/>
          </p:cNvSpPr>
          <p:nvPr>
            <p:ph type="sldNum" idx="12"/>
          </p:nvPr>
        </p:nvSpPr>
        <p:spPr>
          <a:xfrm>
            <a:off x="7924800" y="4767264"/>
            <a:ext cx="428982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pt-BR" dirty="0"/>
              <a:t>5</a:t>
            </a:r>
            <a:endParaRPr dirty="0"/>
          </a:p>
        </p:txBody>
      </p:sp>
    </p:spTree>
  </p:cSld>
  <p:clrMapOvr>
    <a:masterClrMapping/>
  </p:clrMapOvr>
  <p:transition spd="slow">
    <p:push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7"/>
          <p:cNvSpPr/>
          <p:nvPr/>
        </p:nvSpPr>
        <p:spPr>
          <a:xfrm>
            <a:off x="-2" y="0"/>
            <a:ext cx="9144000" cy="765900"/>
          </a:xfrm>
          <a:prstGeom prst="rect">
            <a:avLst/>
          </a:prstGeom>
          <a:solidFill>
            <a:srgbClr val="00314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9" name="Google Shape;149;p17"/>
          <p:cNvCxnSpPr/>
          <p:nvPr/>
        </p:nvCxnSpPr>
        <p:spPr>
          <a:xfrm>
            <a:off x="251520" y="142858"/>
            <a:ext cx="0" cy="484800"/>
          </a:xfrm>
          <a:prstGeom prst="straightConnector1">
            <a:avLst/>
          </a:prstGeom>
          <a:noFill/>
          <a:ln w="38100" cap="flat" cmpd="sng">
            <a:solidFill>
              <a:srgbClr val="FFC00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510"/>
              </a:srgbClr>
            </a:outerShdw>
          </a:effectLst>
        </p:spPr>
      </p:cxnSp>
      <p:sp>
        <p:nvSpPr>
          <p:cNvPr id="150" name="Google Shape;150;p17"/>
          <p:cNvSpPr/>
          <p:nvPr/>
        </p:nvSpPr>
        <p:spPr>
          <a:xfrm>
            <a:off x="8172400" y="464883"/>
            <a:ext cx="482100" cy="325200"/>
          </a:xfrm>
          <a:prstGeom prst="triangle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7"/>
          <p:cNvSpPr txBox="1"/>
          <p:nvPr/>
        </p:nvSpPr>
        <p:spPr>
          <a:xfrm>
            <a:off x="539552" y="0"/>
            <a:ext cx="8604300" cy="69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Century Gothic"/>
              <a:buNone/>
            </a:pPr>
            <a:r>
              <a:rPr lang="pt-BR" sz="2500" b="1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Objetivos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17"/>
          <p:cNvSpPr txBox="1">
            <a:spLocks noGrp="1"/>
          </p:cNvSpPr>
          <p:nvPr>
            <p:ph type="subTitle" idx="1"/>
          </p:nvPr>
        </p:nvSpPr>
        <p:spPr>
          <a:xfrm>
            <a:off x="631318" y="886531"/>
            <a:ext cx="7599300" cy="3998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40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chemeClr val="tx1"/>
                </a:solidFill>
              </a:rPr>
              <a:t>Objetivos Específicos</a:t>
            </a:r>
            <a:br>
              <a:rPr lang="pt-BR" sz="1500" b="1" dirty="0">
                <a:solidFill>
                  <a:srgbClr val="FF0000"/>
                </a:solidFill>
              </a:rPr>
            </a:br>
            <a:endParaRPr sz="1500" dirty="0">
              <a:solidFill>
                <a:schemeClr val="tx1"/>
              </a:solidFill>
            </a:endParaRPr>
          </a:p>
          <a:p>
            <a:pPr marL="171450" lvl="0" indent="-171450" algn="just" rtl="0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 pitchFamily="34" charset="0"/>
              <a:buChar char="•"/>
            </a:pPr>
            <a:r>
              <a:rPr lang="pt-BR" sz="1400" b="1" dirty="0">
                <a:solidFill>
                  <a:schemeClr val="tx1"/>
                </a:solidFill>
              </a:rPr>
              <a:t>Mapear os determinantes sociais da saúde que influenciam diretamente no abandono do pré-natal. </a:t>
            </a:r>
          </a:p>
          <a:p>
            <a:pPr marL="171450" lvl="0" indent="-171450" algn="just" rtl="0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 pitchFamily="34" charset="0"/>
              <a:buChar char="•"/>
            </a:pPr>
            <a:r>
              <a:rPr lang="pt-BR" sz="1400" b="1" dirty="0">
                <a:solidFill>
                  <a:schemeClr val="tx1"/>
                </a:solidFill>
              </a:rPr>
              <a:t>Coletar e organizar dados relevantes de gestantes que abandonam o programa de pré-natal. </a:t>
            </a:r>
          </a:p>
          <a:p>
            <a:pPr marL="171450" lvl="0" indent="-171450" algn="just" rtl="0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 pitchFamily="34" charset="0"/>
              <a:buChar char="•"/>
            </a:pPr>
            <a:r>
              <a:rPr lang="pt-BR" sz="1400" b="1" dirty="0">
                <a:solidFill>
                  <a:schemeClr val="tx1"/>
                </a:solidFill>
              </a:rPr>
              <a:t>Desenvolver um aplicativo de celular para acompanhar a gestação e coletar os dados sobre o andamento do pré-natal. </a:t>
            </a:r>
          </a:p>
          <a:p>
            <a:pPr marL="171450" lvl="0" indent="-171450" algn="just" rtl="0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 pitchFamily="34" charset="0"/>
              <a:buChar char="•"/>
            </a:pPr>
            <a:r>
              <a:rPr lang="pt-BR" sz="1400" b="1" dirty="0">
                <a:solidFill>
                  <a:schemeClr val="tx1"/>
                </a:solidFill>
              </a:rPr>
              <a:t>Gerar uma base de dados a partir da coleta de dados do aplicativo de celular. </a:t>
            </a:r>
          </a:p>
          <a:p>
            <a:pPr marL="171450" lvl="0" indent="-171450" algn="just" rtl="0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 pitchFamily="34" charset="0"/>
              <a:buChar char="•"/>
            </a:pPr>
            <a:r>
              <a:rPr lang="pt-BR" sz="1400" b="1" dirty="0">
                <a:solidFill>
                  <a:schemeClr val="tx1"/>
                </a:solidFill>
              </a:rPr>
              <a:t>Desenvolver e treinar um modelo de Redes Neurais para análise e identificação de padrões. </a:t>
            </a:r>
          </a:p>
          <a:p>
            <a:pPr marL="171450" lvl="0" indent="-171450" algn="just" rtl="0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 pitchFamily="34" charset="0"/>
              <a:buChar char="•"/>
            </a:pPr>
            <a:r>
              <a:rPr lang="pt-BR" sz="1400" b="1" dirty="0">
                <a:solidFill>
                  <a:schemeClr val="tx1"/>
                </a:solidFill>
              </a:rPr>
              <a:t>Validar o modelo proposto por meio de um conjunto de dados reais. </a:t>
            </a:r>
          </a:p>
          <a:p>
            <a:pPr marL="171450" lvl="0" indent="-171450" algn="just" rtl="0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 pitchFamily="34" charset="0"/>
              <a:buChar char="•"/>
            </a:pPr>
            <a:r>
              <a:rPr lang="pt-BR" sz="1400" b="1" dirty="0">
                <a:solidFill>
                  <a:schemeClr val="tx1"/>
                </a:solidFill>
              </a:rPr>
              <a:t>Propor estratégias baseadas nos resultados obtidos para mitigar o abandono do pré-natal.</a:t>
            </a:r>
            <a:endParaRPr sz="1400" b="1" dirty="0">
              <a:solidFill>
                <a:schemeClr val="tx1"/>
              </a:solidFill>
            </a:endParaRPr>
          </a:p>
        </p:txBody>
      </p:sp>
      <p:pic>
        <p:nvPicPr>
          <p:cNvPr id="153" name="Google Shape;153;p17" descr="Logotipo&#10;&#10;Descrição gerada automaticament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53782" y="4373297"/>
            <a:ext cx="614826" cy="614826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7"/>
          <p:cNvSpPr txBox="1">
            <a:spLocks noGrp="1"/>
          </p:cNvSpPr>
          <p:nvPr>
            <p:ph type="sldNum" idx="12"/>
          </p:nvPr>
        </p:nvSpPr>
        <p:spPr>
          <a:xfrm>
            <a:off x="7924800" y="4767264"/>
            <a:ext cx="4290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pt-BR" dirty="0"/>
              <a:t>6</a:t>
            </a:r>
            <a:endParaRPr dirty="0"/>
          </a:p>
        </p:txBody>
      </p:sp>
    </p:spTree>
  </p:cSld>
  <p:clrMapOvr>
    <a:masterClrMapping/>
  </p:clrMapOvr>
  <p:transition spd="slow">
    <p:push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9"/>
          <p:cNvSpPr/>
          <p:nvPr/>
        </p:nvSpPr>
        <p:spPr>
          <a:xfrm>
            <a:off x="-2" y="0"/>
            <a:ext cx="9144002" cy="766025"/>
          </a:xfrm>
          <a:prstGeom prst="rect">
            <a:avLst/>
          </a:prstGeom>
          <a:solidFill>
            <a:srgbClr val="00314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1" name="Google Shape;171;p19"/>
          <p:cNvCxnSpPr/>
          <p:nvPr/>
        </p:nvCxnSpPr>
        <p:spPr>
          <a:xfrm>
            <a:off x="251520" y="142858"/>
            <a:ext cx="0" cy="484676"/>
          </a:xfrm>
          <a:prstGeom prst="straightConnector1">
            <a:avLst/>
          </a:prstGeom>
          <a:noFill/>
          <a:ln w="38100" cap="flat" cmpd="sng">
            <a:solidFill>
              <a:srgbClr val="FFC00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</p:cxnSp>
      <p:sp>
        <p:nvSpPr>
          <p:cNvPr id="172" name="Google Shape;172;p19"/>
          <p:cNvSpPr/>
          <p:nvPr/>
        </p:nvSpPr>
        <p:spPr>
          <a:xfrm>
            <a:off x="8172400" y="464883"/>
            <a:ext cx="482208" cy="325301"/>
          </a:xfrm>
          <a:prstGeom prst="triangle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9"/>
          <p:cNvSpPr txBox="1">
            <a:spLocks noGrp="1"/>
          </p:cNvSpPr>
          <p:nvPr>
            <p:ph type="subTitle" idx="1"/>
          </p:nvPr>
        </p:nvSpPr>
        <p:spPr>
          <a:xfrm>
            <a:off x="458806" y="1039368"/>
            <a:ext cx="8217600" cy="6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dirty="0"/>
          </a:p>
          <a:p>
            <a:pPr marL="342900" marR="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888888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888888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888888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74" name="Google Shape;174;p19"/>
          <p:cNvSpPr txBox="1"/>
          <p:nvPr/>
        </p:nvSpPr>
        <p:spPr>
          <a:xfrm>
            <a:off x="539552" y="0"/>
            <a:ext cx="8604448" cy="6995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Century Gothic"/>
              <a:buNone/>
            </a:pPr>
            <a:r>
              <a:rPr lang="pt-BR" sz="2500" b="1" i="0" u="none" strike="noStrike" cap="none" dirty="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</a:t>
            </a:r>
            <a:r>
              <a:rPr lang="pt-BR" sz="2500" b="1" dirty="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ferencial</a:t>
            </a:r>
            <a:r>
              <a:rPr lang="pt-BR" sz="2500" b="1" i="0" u="none" strike="noStrike" cap="none" dirty="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Teórica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5" name="Google Shape;175;p19"/>
          <p:cNvPicPr preferRelativeResize="0"/>
          <p:nvPr/>
        </p:nvPicPr>
        <p:blipFill rotWithShape="1">
          <a:blip r:embed="rId3">
            <a:alphaModFix/>
          </a:blip>
          <a:srcRect l="62601" b="50000"/>
          <a:stretch/>
        </p:blipFill>
        <p:spPr>
          <a:xfrm>
            <a:off x="7612912" y="1"/>
            <a:ext cx="1531088" cy="145666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76" name="Google Shape;176;p19"/>
          <p:cNvGraphicFramePr/>
          <p:nvPr>
            <p:extLst>
              <p:ext uri="{D42A27DB-BD31-4B8C-83A1-F6EECF244321}">
                <p14:modId xmlns:p14="http://schemas.microsoft.com/office/powerpoint/2010/main" val="4196683427"/>
              </p:ext>
            </p:extLst>
          </p:nvPr>
        </p:nvGraphicFramePr>
        <p:xfrm>
          <a:off x="511418" y="1378983"/>
          <a:ext cx="8186475" cy="2987110"/>
        </p:xfrm>
        <a:graphic>
          <a:graphicData uri="http://schemas.openxmlformats.org/drawingml/2006/table">
            <a:tbl>
              <a:tblPr firstRow="1" bandRow="1">
                <a:noFill/>
                <a:tableStyleId>{E811E5BC-DF20-499A-A17A-B5CD9756F5C1}</a:tableStyleId>
              </a:tblPr>
              <a:tblGrid>
                <a:gridCol w="2310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75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0719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strike="noStrike" cap="none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endParaRPr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1450" marR="91450" marT="45725" marB="45725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strike="noStrike" cap="none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Ideia geral</a:t>
                      </a:r>
                      <a:endParaRPr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1450" marR="91450" marT="45725" marB="45725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877">
                <a:tc gridSpan="2">
                  <a:txBody>
                    <a:bodyPr/>
                    <a:lstStyle/>
                    <a:p>
                      <a:pPr marL="285750" lvl="0" indent="-28575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pt-BR" sz="14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Determinantes Sociais de Saúde (DDS)</a:t>
                      </a:r>
                      <a:endParaRPr sz="1400" b="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1450" marR="91450" marT="45725" marB="45725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131652419"/>
                  </a:ext>
                </a:extLst>
              </a:tr>
              <a:tr h="460672">
                <a:tc>
                  <a:txBody>
                    <a:bodyPr/>
                    <a:lstStyle/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Costa et al. (2021)</a:t>
                      </a:r>
                      <a:endParaRPr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1450" marR="91450" marT="45725" marB="45725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Mulheres em contextos mais vulneráveis têm menos chance de iniciar o pré-natal no primeiro trimestre e de cumprir o número mínimo de consultas.</a:t>
                      </a:r>
                      <a:endParaRPr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1450" marR="91450" marT="45725" marB="45725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0719">
                <a:tc gridSpan="2">
                  <a:txBody>
                    <a:bodyPr/>
                    <a:lstStyle/>
                    <a:p>
                      <a:pPr marL="285750" lvl="0" indent="-28575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pt-BR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Saúde Materna e Pré-natal</a:t>
                      </a:r>
                      <a:endParaRPr lang="pt-BR" sz="1400" b="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1450" marR="91450" marT="45725" marB="45725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4258523493"/>
                  </a:ext>
                </a:extLst>
              </a:tr>
              <a:tr h="55746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(Brasil, 2024a; Brasil, 2016)</a:t>
                      </a:r>
                      <a:endParaRPr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1450" marR="91450" marT="45725" marB="45725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 acompanhamento pré-natal adequado é reconhecido como uma das estratégias mais eficazes para reduzir complicações gestacionais, partos prematuros e mortalidade materna e neonatal</a:t>
                      </a:r>
                      <a:endParaRPr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1450" marR="91450" marT="45725" marB="45725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0719">
                <a:tc gridSpan="2"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pt-BR" sz="14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Inteligência Artificial Na Saúde</a:t>
                      </a:r>
                    </a:p>
                  </a:txBody>
                  <a:tcPr marL="91450" marR="91450" marT="45725" marB="45725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4048807183"/>
                  </a:ext>
                </a:extLst>
              </a:tr>
              <a:tr h="43015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pt-BR" sz="1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Nascimento Neto et al. (2020)</a:t>
                      </a:r>
                    </a:p>
                  </a:txBody>
                  <a:tcPr marL="91450" marR="91450" marT="45725" marB="45725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pt-BR" sz="1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 Inteligência Artificial é essencial para lidar com grandes volumes de dados clínicos e identificar padrões complexos que apoiam a tomada de decisão.</a:t>
                      </a:r>
                    </a:p>
                  </a:txBody>
                  <a:tcPr marL="91450" marR="91450" marT="45725" marB="45725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24878396"/>
                  </a:ext>
                </a:extLst>
              </a:tr>
            </a:tbl>
          </a:graphicData>
        </a:graphic>
      </p:graphicFrame>
      <p:pic>
        <p:nvPicPr>
          <p:cNvPr id="177" name="Google Shape;177;p19" descr="Logotipo&#10;&#10;Descrição gerada automaticamente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53782" y="4373297"/>
            <a:ext cx="614826" cy="614826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9"/>
          <p:cNvSpPr txBox="1">
            <a:spLocks noGrp="1"/>
          </p:cNvSpPr>
          <p:nvPr>
            <p:ph type="sldNum" idx="12"/>
          </p:nvPr>
        </p:nvSpPr>
        <p:spPr>
          <a:xfrm>
            <a:off x="7924800" y="4767264"/>
            <a:ext cx="428982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pt-BR" dirty="0"/>
              <a:t>7</a:t>
            </a:r>
            <a:endParaRPr dirty="0"/>
          </a:p>
        </p:txBody>
      </p:sp>
      <p:sp>
        <p:nvSpPr>
          <p:cNvPr id="179" name="Google Shape;179;p19"/>
          <p:cNvSpPr txBox="1"/>
          <p:nvPr/>
        </p:nvSpPr>
        <p:spPr>
          <a:xfrm>
            <a:off x="446108" y="4366093"/>
            <a:ext cx="1814842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Fonte: Autor (2025)</a:t>
            </a:r>
            <a:endParaRPr sz="1200" dirty="0">
              <a:solidFill>
                <a:srgbClr val="888888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80" name="Google Shape;180;p19"/>
          <p:cNvSpPr txBox="1"/>
          <p:nvPr/>
        </p:nvSpPr>
        <p:spPr>
          <a:xfrm>
            <a:off x="511418" y="972885"/>
            <a:ext cx="4928369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Quadro 1 – Contribuição dos autores</a:t>
            </a:r>
            <a:endParaRPr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push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9"/>
          <p:cNvSpPr/>
          <p:nvPr/>
        </p:nvSpPr>
        <p:spPr>
          <a:xfrm>
            <a:off x="-2" y="0"/>
            <a:ext cx="9144002" cy="766025"/>
          </a:xfrm>
          <a:prstGeom prst="rect">
            <a:avLst/>
          </a:prstGeom>
          <a:solidFill>
            <a:srgbClr val="00314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1" name="Google Shape;171;p19"/>
          <p:cNvCxnSpPr/>
          <p:nvPr/>
        </p:nvCxnSpPr>
        <p:spPr>
          <a:xfrm>
            <a:off x="251520" y="142858"/>
            <a:ext cx="0" cy="484676"/>
          </a:xfrm>
          <a:prstGeom prst="straightConnector1">
            <a:avLst/>
          </a:prstGeom>
          <a:noFill/>
          <a:ln w="38100" cap="flat" cmpd="sng">
            <a:solidFill>
              <a:srgbClr val="FFC00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</p:cxnSp>
      <p:sp>
        <p:nvSpPr>
          <p:cNvPr id="172" name="Google Shape;172;p19"/>
          <p:cNvSpPr/>
          <p:nvPr/>
        </p:nvSpPr>
        <p:spPr>
          <a:xfrm>
            <a:off x="8172400" y="464883"/>
            <a:ext cx="482208" cy="325301"/>
          </a:xfrm>
          <a:prstGeom prst="triangle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9"/>
          <p:cNvSpPr txBox="1">
            <a:spLocks noGrp="1"/>
          </p:cNvSpPr>
          <p:nvPr>
            <p:ph type="subTitle" idx="1"/>
          </p:nvPr>
        </p:nvSpPr>
        <p:spPr>
          <a:xfrm>
            <a:off x="458806" y="1039368"/>
            <a:ext cx="8217600" cy="6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dirty="0"/>
          </a:p>
          <a:p>
            <a:pPr marL="342900" marR="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888888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888888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888888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74" name="Google Shape;174;p19"/>
          <p:cNvSpPr txBox="1"/>
          <p:nvPr/>
        </p:nvSpPr>
        <p:spPr>
          <a:xfrm>
            <a:off x="539552" y="0"/>
            <a:ext cx="8604448" cy="6995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Century Gothic"/>
              <a:buNone/>
            </a:pPr>
            <a:r>
              <a:rPr lang="pt-BR" sz="2500" b="1" i="0" u="none" strike="noStrike" cap="none" dirty="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</a:t>
            </a:r>
            <a:r>
              <a:rPr lang="pt-BR" sz="2500" b="1" dirty="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ferencial</a:t>
            </a:r>
            <a:r>
              <a:rPr lang="pt-BR" sz="2500" b="1" i="0" u="none" strike="noStrike" cap="none" dirty="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Teórica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5" name="Google Shape;175;p19"/>
          <p:cNvPicPr preferRelativeResize="0"/>
          <p:nvPr/>
        </p:nvPicPr>
        <p:blipFill rotWithShape="1">
          <a:blip r:embed="rId3">
            <a:alphaModFix/>
          </a:blip>
          <a:srcRect l="62601" b="50000"/>
          <a:stretch/>
        </p:blipFill>
        <p:spPr>
          <a:xfrm>
            <a:off x="7612912" y="1"/>
            <a:ext cx="1531088" cy="14566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19" descr="Logotipo&#10;&#10;Descrição gerada automaticamente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53782" y="4373297"/>
            <a:ext cx="614826" cy="614826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9"/>
          <p:cNvSpPr txBox="1">
            <a:spLocks noGrp="1"/>
          </p:cNvSpPr>
          <p:nvPr>
            <p:ph type="sldNum" idx="12"/>
          </p:nvPr>
        </p:nvSpPr>
        <p:spPr>
          <a:xfrm>
            <a:off x="7924800" y="4767264"/>
            <a:ext cx="428982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pt-BR" dirty="0"/>
              <a:t>8</a:t>
            </a:r>
            <a:endParaRPr dirty="0"/>
          </a:p>
        </p:txBody>
      </p:sp>
      <p:sp>
        <p:nvSpPr>
          <p:cNvPr id="179" name="Google Shape;179;p19"/>
          <p:cNvSpPr txBox="1"/>
          <p:nvPr/>
        </p:nvSpPr>
        <p:spPr>
          <a:xfrm>
            <a:off x="2373851" y="4350218"/>
            <a:ext cx="4387510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Fonte: Comissão Nacional sobre os Determinantes Sociais da Saúde (2008).</a:t>
            </a:r>
            <a:endParaRPr sz="12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entury Gothic"/>
            </a:endParaRPr>
          </a:p>
        </p:txBody>
      </p:sp>
      <p:sp>
        <p:nvSpPr>
          <p:cNvPr id="180" name="Google Shape;180;p19"/>
          <p:cNvSpPr txBox="1"/>
          <p:nvPr/>
        </p:nvSpPr>
        <p:spPr>
          <a:xfrm>
            <a:off x="2373851" y="876885"/>
            <a:ext cx="4387510" cy="6822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>
              <a:spcAft>
                <a:spcPts val="1000"/>
              </a:spcAft>
            </a:pPr>
            <a:r>
              <a:rPr lang="pt-BR" sz="1200" i="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Figura 1 - Modelo dos DSS proposto por </a:t>
            </a:r>
            <a:r>
              <a:rPr lang="pt-BR" sz="1200" b="1" i="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Dahlgren e Whitehead </a:t>
            </a:r>
            <a:r>
              <a:rPr lang="pt-BR" sz="1200" i="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 adotado pela OMS</a:t>
            </a:r>
            <a:endParaRPr lang="pt-BR" sz="1200" i="1" dirty="0"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8" name="Imagem 7" descr="Diagrama&#10;&#10;O conteúdo gerado por IA pode estar incorreto.">
            <a:extLst>
              <a:ext uri="{FF2B5EF4-FFF2-40B4-BE49-F238E27FC236}">
                <a16:creationId xmlns:a16="http://schemas.microsoft.com/office/drawing/2014/main" id="{33AC6D9C-10F0-8932-0406-D33D0C9DED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66406" y="1410789"/>
            <a:ext cx="4637314" cy="2962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0866718"/>
      </p:ext>
    </p:extLst>
  </p:cSld>
  <p:clrMapOvr>
    <a:masterClrMapping/>
  </p:clrMapOvr>
  <p:transition spd="slow">
    <p:push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0"/>
          <p:cNvSpPr/>
          <p:nvPr/>
        </p:nvSpPr>
        <p:spPr>
          <a:xfrm>
            <a:off x="-2" y="0"/>
            <a:ext cx="9144002" cy="766025"/>
          </a:xfrm>
          <a:prstGeom prst="rect">
            <a:avLst/>
          </a:prstGeom>
          <a:solidFill>
            <a:srgbClr val="00314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6" name="Google Shape;186;p20"/>
          <p:cNvCxnSpPr/>
          <p:nvPr/>
        </p:nvCxnSpPr>
        <p:spPr>
          <a:xfrm>
            <a:off x="251520" y="142858"/>
            <a:ext cx="0" cy="484676"/>
          </a:xfrm>
          <a:prstGeom prst="straightConnector1">
            <a:avLst/>
          </a:prstGeom>
          <a:noFill/>
          <a:ln w="38100" cap="flat" cmpd="sng">
            <a:solidFill>
              <a:srgbClr val="FFC00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</p:cxnSp>
      <p:sp>
        <p:nvSpPr>
          <p:cNvPr id="187" name="Google Shape;187;p20"/>
          <p:cNvSpPr/>
          <p:nvPr/>
        </p:nvSpPr>
        <p:spPr>
          <a:xfrm>
            <a:off x="8172400" y="464883"/>
            <a:ext cx="482208" cy="325301"/>
          </a:xfrm>
          <a:prstGeom prst="triangle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20"/>
          <p:cNvSpPr txBox="1">
            <a:spLocks noGrp="1"/>
          </p:cNvSpPr>
          <p:nvPr>
            <p:ph type="subTitle" idx="1"/>
          </p:nvPr>
        </p:nvSpPr>
        <p:spPr>
          <a:xfrm>
            <a:off x="339636" y="1837944"/>
            <a:ext cx="3811002" cy="2475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25450" lvl="0" indent="-28575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 pitchFamily="34" charset="0"/>
              <a:buChar char="•"/>
            </a:pPr>
            <a:r>
              <a:rPr lang="pt-BR" sz="1600" b="1" dirty="0">
                <a:solidFill>
                  <a:schemeClr val="dk1"/>
                </a:solidFill>
              </a:rPr>
              <a:t>Identificação do Tipo de Pesquisa:</a:t>
            </a:r>
            <a:endParaRPr sz="1600" b="1" dirty="0">
              <a:solidFill>
                <a:schemeClr val="dk1"/>
              </a:solidFill>
            </a:endParaRPr>
          </a:p>
          <a:p>
            <a:pPr marL="781050" lvl="1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ourier New" panose="02070309020205020404" pitchFamily="49" charset="0"/>
              <a:buChar char="o"/>
            </a:pPr>
            <a:r>
              <a:rPr lang="pt-BR" sz="1600" b="1" dirty="0">
                <a:solidFill>
                  <a:schemeClr val="dk1"/>
                </a:solidFill>
              </a:rPr>
              <a:t>   </a:t>
            </a:r>
            <a:r>
              <a:rPr lang="pt-BR" sz="1600" dirty="0">
                <a:solidFill>
                  <a:schemeClr val="dk1"/>
                </a:solidFill>
              </a:rPr>
              <a:t>Pesquisa de natureza aplicada;</a:t>
            </a:r>
          </a:p>
          <a:p>
            <a:pPr marL="781050" lvl="1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ourier New" panose="02070309020205020404" pitchFamily="49" charset="0"/>
              <a:buChar char="o"/>
            </a:pPr>
            <a:r>
              <a:rPr lang="pt-BR" sz="1600" dirty="0">
                <a:solidFill>
                  <a:schemeClr val="dk1"/>
                </a:solidFill>
              </a:rPr>
              <a:t>   Abordagem quantitativa.</a:t>
            </a:r>
          </a:p>
          <a:p>
            <a:pPr marL="60960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</a:pPr>
            <a:endParaRPr lang="pt-BR" sz="1600" b="1" dirty="0">
              <a:solidFill>
                <a:schemeClr val="dk1"/>
              </a:solidFill>
            </a:endParaRPr>
          </a:p>
          <a:p>
            <a:pPr marL="438150" indent="-285750" algn="l">
              <a:spcBef>
                <a:spcPts val="0"/>
              </a:spcBef>
              <a:buClr>
                <a:schemeClr val="dk1"/>
              </a:buClr>
              <a:buSzPts val="1200"/>
              <a:buFont typeface="Arial" panose="020B0604020202020204" pitchFamily="34" charset="0"/>
              <a:buChar char="•"/>
            </a:pPr>
            <a:r>
              <a:rPr lang="pt-BR" sz="1600" b="1" dirty="0">
                <a:solidFill>
                  <a:schemeClr val="tx1"/>
                </a:solidFill>
              </a:rPr>
              <a:t>Delimitação da Pesquisa:</a:t>
            </a:r>
          </a:p>
          <a:p>
            <a:pPr marL="895350" lvl="1" indent="-285750" algn="l">
              <a:spcBef>
                <a:spcPts val="0"/>
              </a:spcBef>
              <a:buClr>
                <a:schemeClr val="dk1"/>
              </a:buClr>
              <a:buSzPts val="1200"/>
              <a:buFont typeface="Courier New" panose="02070309020205020404" pitchFamily="49" charset="0"/>
              <a:buChar char="o"/>
            </a:pPr>
            <a:r>
              <a:rPr lang="pt-BR" sz="1600" dirty="0">
                <a:solidFill>
                  <a:schemeClr val="tx1"/>
                </a:solidFill>
              </a:rPr>
              <a:t>População e amostra;</a:t>
            </a:r>
          </a:p>
          <a:p>
            <a:pPr marL="895350" lvl="1" indent="-285750" algn="l">
              <a:spcBef>
                <a:spcPts val="0"/>
              </a:spcBef>
              <a:buClr>
                <a:schemeClr val="dk1"/>
              </a:buClr>
              <a:buSzPts val="1200"/>
              <a:buFont typeface="Courier New" panose="02070309020205020404" pitchFamily="49" charset="0"/>
              <a:buChar char="o"/>
            </a:pPr>
            <a:r>
              <a:rPr lang="pt-BR" sz="1600" dirty="0">
                <a:solidFill>
                  <a:schemeClr val="tx1"/>
                </a:solidFill>
              </a:rPr>
              <a:t>Instrumento e coleta de dados;</a:t>
            </a:r>
          </a:p>
          <a:p>
            <a:pPr marL="895350" lvl="1" indent="-285750" algn="l">
              <a:spcBef>
                <a:spcPts val="0"/>
              </a:spcBef>
              <a:buClr>
                <a:schemeClr val="dk1"/>
              </a:buClr>
              <a:buSzPts val="1200"/>
              <a:buFont typeface="Courier New" panose="02070309020205020404" pitchFamily="49" charset="0"/>
              <a:buChar char="o"/>
            </a:pPr>
            <a:r>
              <a:rPr lang="pt-BR" sz="1600" dirty="0">
                <a:solidFill>
                  <a:schemeClr val="tx1"/>
                </a:solidFill>
              </a:rPr>
              <a:t>Variáveis de estudos.</a:t>
            </a:r>
          </a:p>
        </p:txBody>
      </p:sp>
      <p:sp>
        <p:nvSpPr>
          <p:cNvPr id="191" name="Google Shape;191;p20"/>
          <p:cNvSpPr txBox="1">
            <a:spLocks noGrp="1"/>
          </p:cNvSpPr>
          <p:nvPr>
            <p:ph type="sldNum" idx="12"/>
          </p:nvPr>
        </p:nvSpPr>
        <p:spPr>
          <a:xfrm>
            <a:off x="7924800" y="4767264"/>
            <a:ext cx="428982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pt-BR" dirty="0"/>
              <a:t>9</a:t>
            </a:r>
            <a:endParaRPr dirty="0"/>
          </a:p>
        </p:txBody>
      </p:sp>
      <p:sp>
        <p:nvSpPr>
          <p:cNvPr id="189" name="Google Shape;189;p20"/>
          <p:cNvSpPr txBox="1"/>
          <p:nvPr/>
        </p:nvSpPr>
        <p:spPr>
          <a:xfrm>
            <a:off x="539552" y="0"/>
            <a:ext cx="8604448" cy="6995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Century Gothic"/>
              <a:buNone/>
            </a:pPr>
            <a:r>
              <a:rPr lang="pt-BR" sz="2500" b="1" i="0" u="none" strike="noStrike" cap="none" dirty="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Metodologia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0" name="Google Shape;190;p20" descr="Logotipo&#10;&#10;Descrição gerada automaticamente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53782" y="4373297"/>
            <a:ext cx="614826" cy="6148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" name="Tabela 1">
            <a:extLst>
              <a:ext uri="{FF2B5EF4-FFF2-40B4-BE49-F238E27FC236}">
                <a16:creationId xmlns:a16="http://schemas.microsoft.com/office/drawing/2014/main" id="{33607E9D-2C16-C5AB-669D-8295F3EB0E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1455202"/>
              </p:ext>
            </p:extLst>
          </p:nvPr>
        </p:nvGraphicFramePr>
        <p:xfrm>
          <a:off x="4300828" y="1837944"/>
          <a:ext cx="4048707" cy="2475665"/>
        </p:xfrm>
        <a:graphic>
          <a:graphicData uri="http://schemas.openxmlformats.org/drawingml/2006/table">
            <a:tbl>
              <a:tblPr firstRow="1" bandRow="1">
                <a:tableStyleId>{E811E5BC-DF20-499A-A17A-B5CD9756F5C1}</a:tableStyleId>
              </a:tblPr>
              <a:tblGrid>
                <a:gridCol w="2351405">
                  <a:extLst>
                    <a:ext uri="{9D8B030D-6E8A-4147-A177-3AD203B41FA5}">
                      <a16:colId xmlns:a16="http://schemas.microsoft.com/office/drawing/2014/main" val="914288510"/>
                    </a:ext>
                  </a:extLst>
                </a:gridCol>
                <a:gridCol w="1697302">
                  <a:extLst>
                    <a:ext uri="{9D8B030D-6E8A-4147-A177-3AD203B41FA5}">
                      <a16:colId xmlns:a16="http://schemas.microsoft.com/office/drawing/2014/main" val="3066008402"/>
                    </a:ext>
                  </a:extLst>
                </a:gridCol>
              </a:tblGrid>
              <a:tr h="190827">
                <a:tc>
                  <a:txBody>
                    <a:bodyPr/>
                    <a:lstStyle/>
                    <a:p>
                      <a:pPr algn="ctr"/>
                      <a:r>
                        <a:rPr lang="pt-BR" sz="1200" b="1" dirty="0"/>
                        <a:t>Variável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1" dirty="0"/>
                        <a:t>Tipo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1255915"/>
                  </a:ext>
                </a:extLst>
              </a:tr>
              <a:tr h="264124">
                <a:tc>
                  <a:txBody>
                    <a:bodyPr/>
                    <a:lstStyle/>
                    <a:p>
                      <a:r>
                        <a:rPr lang="pt-BR" sz="1200" b="0" dirty="0"/>
                        <a:t>Renda familiar mensal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200" dirty="0"/>
                        <a:t>Categórica ordinal </a:t>
                      </a:r>
                      <a:endParaRPr lang="pt-BR" sz="12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0826063"/>
                  </a:ext>
                </a:extLst>
              </a:tr>
              <a:tr h="135744">
                <a:tc>
                  <a:txBody>
                    <a:bodyPr/>
                    <a:lstStyle/>
                    <a:p>
                      <a:r>
                        <a:rPr lang="pt-BR" sz="1200" b="0" dirty="0"/>
                        <a:t>Escolaridade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pt-BR" sz="1200" dirty="0"/>
                        <a:t>Categórica ordinal</a:t>
                      </a:r>
                      <a:endParaRPr lang="pt-BR" sz="12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5443984"/>
                  </a:ext>
                </a:extLst>
              </a:tr>
              <a:tr h="236764">
                <a:tc>
                  <a:txBody>
                    <a:bodyPr/>
                    <a:lstStyle/>
                    <a:p>
                      <a:r>
                        <a:rPr lang="pt-BR" sz="1200" b="0" dirty="0"/>
                        <a:t>Estado civil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200" dirty="0"/>
                        <a:t>Categórica nominal.</a:t>
                      </a:r>
                      <a:endParaRPr lang="pt-BR" sz="12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0496173"/>
                  </a:ext>
                </a:extLst>
              </a:tr>
              <a:tr h="281105">
                <a:tc>
                  <a:txBody>
                    <a:bodyPr/>
                    <a:lstStyle/>
                    <a:p>
                      <a:r>
                        <a:rPr lang="pt-BR" sz="1200" b="0" dirty="0"/>
                        <a:t>Distância até unidade de saúde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200" dirty="0"/>
                        <a:t>Numérica </a:t>
                      </a:r>
                      <a:endParaRPr lang="pt-BR" sz="12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00509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pt-BR" sz="1200" b="1" dirty="0"/>
                        <a:t>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1" dirty="0"/>
                        <a:t>...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530735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t-BR" sz="1200" b="0" dirty="0"/>
                        <a:t>Nº de abortos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200" dirty="0"/>
                        <a:t>Numérica</a:t>
                      </a:r>
                      <a:endParaRPr lang="pt-BR" sz="12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557128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t-BR" sz="1200" b="0" dirty="0"/>
                        <a:t>Condição da moradia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pt-BR" sz="1200" dirty="0"/>
                        <a:t>Categórica nominal</a:t>
                      </a:r>
                      <a:endParaRPr lang="pt-BR" sz="12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443588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t-BR" sz="1200" b="0" dirty="0"/>
                        <a:t>Rede de apoio social/familiar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200" dirty="0"/>
                        <a:t>Categórica nominal</a:t>
                      </a:r>
                      <a:endParaRPr lang="pt-BR" sz="12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1471383"/>
                  </a:ext>
                </a:extLst>
              </a:tr>
            </a:tbl>
          </a:graphicData>
        </a:graphic>
      </p:graphicFrame>
      <p:sp>
        <p:nvSpPr>
          <p:cNvPr id="3" name="Google Shape;180;p19">
            <a:extLst>
              <a:ext uri="{FF2B5EF4-FFF2-40B4-BE49-F238E27FC236}">
                <a16:creationId xmlns:a16="http://schemas.microsoft.com/office/drawing/2014/main" id="{D1B56FB0-0937-F679-873F-91883EE6F008}"/>
              </a:ext>
            </a:extLst>
          </p:cNvPr>
          <p:cNvSpPr txBox="1"/>
          <p:nvPr/>
        </p:nvSpPr>
        <p:spPr>
          <a:xfrm>
            <a:off x="4209391" y="1513242"/>
            <a:ext cx="4052957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Quadro 2 – Variáveis de Estudos</a:t>
            </a:r>
            <a:endParaRPr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Google Shape;179;p19">
            <a:extLst>
              <a:ext uri="{FF2B5EF4-FFF2-40B4-BE49-F238E27FC236}">
                <a16:creationId xmlns:a16="http://schemas.microsoft.com/office/drawing/2014/main" id="{81D2EAAC-B306-A405-022B-93DB290B56A6}"/>
              </a:ext>
            </a:extLst>
          </p:cNvPr>
          <p:cNvSpPr txBox="1"/>
          <p:nvPr/>
        </p:nvSpPr>
        <p:spPr>
          <a:xfrm>
            <a:off x="4229609" y="4304400"/>
            <a:ext cx="4052958" cy="369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Fonte: Autoria Própria (2025).</a:t>
            </a:r>
            <a:endParaRPr lang="pt-BR" sz="12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entury Gothic"/>
            </a:endParaRPr>
          </a:p>
        </p:txBody>
      </p:sp>
    </p:spTree>
  </p:cSld>
  <p:clrMapOvr>
    <a:overrideClrMapping bg1="lt1" tx1="dk1" bg2="dk2" tx2="lt2" accent1="accent1" accent2="accent2" accent3="accent3" accent4="accent4" accent5="accent5" accent6="accent6" hlink="hlink" folHlink="folHlink"/>
  </p:clrMapOvr>
  <p:transition spd="slow">
    <p:push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0"/>
          <p:cNvSpPr/>
          <p:nvPr/>
        </p:nvSpPr>
        <p:spPr>
          <a:xfrm>
            <a:off x="-2" y="0"/>
            <a:ext cx="9144002" cy="766025"/>
          </a:xfrm>
          <a:prstGeom prst="rect">
            <a:avLst/>
          </a:prstGeom>
          <a:solidFill>
            <a:srgbClr val="00314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6" name="Google Shape;186;p20"/>
          <p:cNvCxnSpPr/>
          <p:nvPr/>
        </p:nvCxnSpPr>
        <p:spPr>
          <a:xfrm>
            <a:off x="251520" y="142858"/>
            <a:ext cx="0" cy="484676"/>
          </a:xfrm>
          <a:prstGeom prst="straightConnector1">
            <a:avLst/>
          </a:prstGeom>
          <a:noFill/>
          <a:ln w="38100" cap="flat" cmpd="sng">
            <a:solidFill>
              <a:srgbClr val="FFC00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</p:cxnSp>
      <p:sp>
        <p:nvSpPr>
          <p:cNvPr id="187" name="Google Shape;187;p20"/>
          <p:cNvSpPr/>
          <p:nvPr/>
        </p:nvSpPr>
        <p:spPr>
          <a:xfrm>
            <a:off x="8172400" y="464883"/>
            <a:ext cx="482208" cy="325301"/>
          </a:xfrm>
          <a:prstGeom prst="triangle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20"/>
          <p:cNvSpPr txBox="1">
            <a:spLocks noGrp="1"/>
          </p:cNvSpPr>
          <p:nvPr>
            <p:ph type="subTitle" idx="1"/>
          </p:nvPr>
        </p:nvSpPr>
        <p:spPr>
          <a:xfrm>
            <a:off x="1067777" y="1029466"/>
            <a:ext cx="7008446" cy="3737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38150" indent="-285750" algn="l">
              <a:spcBef>
                <a:spcPts val="0"/>
              </a:spcBef>
              <a:buClr>
                <a:schemeClr val="dk1"/>
              </a:buClr>
              <a:buSzPts val="1200"/>
              <a:buFont typeface="Arial" panose="020B0604020202020204" pitchFamily="34" charset="0"/>
              <a:buChar char="•"/>
            </a:pPr>
            <a:r>
              <a:rPr lang="pt-BR" sz="1600" b="1" dirty="0">
                <a:solidFill>
                  <a:schemeClr val="tx1"/>
                </a:solidFill>
              </a:rPr>
              <a:t>Desenvolvimento do Aplicativo</a:t>
            </a:r>
          </a:p>
          <a:p>
            <a:pPr marL="895350" lvl="1" indent="-285750" algn="l">
              <a:spcBef>
                <a:spcPts val="0"/>
              </a:spcBef>
              <a:buClr>
                <a:schemeClr val="dk1"/>
              </a:buClr>
              <a:buSzPts val="1200"/>
              <a:buFont typeface="Courier New" panose="02070309020205020404" pitchFamily="49" charset="0"/>
              <a:buChar char="o"/>
            </a:pPr>
            <a:r>
              <a:rPr lang="pt-BR" sz="1600" dirty="0">
                <a:solidFill>
                  <a:schemeClr val="tx1"/>
                </a:solidFill>
              </a:rPr>
              <a:t>Arquitetura MVVM e </a:t>
            </a:r>
            <a:r>
              <a:rPr lang="pt-BR" sz="1600" i="1" dirty="0">
                <a:solidFill>
                  <a:schemeClr val="tx1"/>
                </a:solidFill>
              </a:rPr>
              <a:t>packages</a:t>
            </a:r>
            <a:r>
              <a:rPr lang="pt-BR" sz="1600" dirty="0">
                <a:solidFill>
                  <a:schemeClr val="tx1"/>
                </a:solidFill>
              </a:rPr>
              <a:t> para auxiliar o desenvolvimento.</a:t>
            </a:r>
          </a:p>
          <a:p>
            <a:pPr marL="609600" lvl="1" indent="0" algn="l">
              <a:spcBef>
                <a:spcPts val="0"/>
              </a:spcBef>
              <a:buClr>
                <a:schemeClr val="dk1"/>
              </a:buClr>
              <a:buSzPts val="1200"/>
            </a:pPr>
            <a:endParaRPr lang="pt-BR" sz="1600" b="1" dirty="0">
              <a:solidFill>
                <a:schemeClr val="tx1"/>
              </a:solidFill>
            </a:endParaRPr>
          </a:p>
          <a:p>
            <a:pPr marL="438150" indent="-285750" algn="l">
              <a:spcBef>
                <a:spcPts val="0"/>
              </a:spcBef>
              <a:buClr>
                <a:schemeClr val="dk1"/>
              </a:buClr>
              <a:buSzPts val="1200"/>
              <a:buFont typeface="Arial" panose="020B0604020202020204" pitchFamily="34" charset="0"/>
              <a:buChar char="•"/>
            </a:pPr>
            <a:r>
              <a:rPr lang="pt-BR" sz="1600" b="1" dirty="0">
                <a:solidFill>
                  <a:schemeClr val="tx1"/>
                </a:solidFill>
              </a:rPr>
              <a:t>Desenvolvimento da API</a:t>
            </a:r>
          </a:p>
          <a:p>
            <a:pPr marL="895350" lvl="1" indent="-285750" algn="l">
              <a:spcBef>
                <a:spcPts val="0"/>
              </a:spcBef>
              <a:buClr>
                <a:schemeClr val="dk1"/>
              </a:buClr>
              <a:buSzPts val="1200"/>
              <a:buFont typeface="Courier New" panose="02070309020205020404" pitchFamily="49" charset="0"/>
              <a:buChar char="o"/>
            </a:pPr>
            <a:r>
              <a:rPr lang="pt-BR" sz="1600" dirty="0">
                <a:solidFill>
                  <a:schemeClr val="tx1"/>
                </a:solidFill>
              </a:rPr>
              <a:t>Arquitetura MVC;</a:t>
            </a:r>
          </a:p>
          <a:p>
            <a:pPr marL="895350" lvl="1" indent="-285750" algn="l">
              <a:spcBef>
                <a:spcPts val="0"/>
              </a:spcBef>
              <a:buClr>
                <a:schemeClr val="dk1"/>
              </a:buClr>
              <a:buSzPts val="1200"/>
              <a:buFont typeface="Courier New" panose="02070309020205020404" pitchFamily="49" charset="0"/>
              <a:buChar char="o"/>
            </a:pPr>
            <a:r>
              <a:rPr lang="pt-BR" sz="1600" dirty="0">
                <a:solidFill>
                  <a:schemeClr val="tx1"/>
                </a:solidFill>
              </a:rPr>
              <a:t>Executará o processamento e inferência do modelo.</a:t>
            </a:r>
          </a:p>
          <a:p>
            <a:pPr marL="152400" indent="0" algn="r">
              <a:spcBef>
                <a:spcPts val="0"/>
              </a:spcBef>
              <a:buClr>
                <a:schemeClr val="dk1"/>
              </a:buClr>
              <a:buSzPts val="1200"/>
            </a:pPr>
            <a:endParaRPr lang="pt-BR" sz="1600" b="1" dirty="0">
              <a:solidFill>
                <a:schemeClr val="tx1"/>
              </a:solidFill>
            </a:endParaRPr>
          </a:p>
          <a:p>
            <a:pPr marL="438150" indent="-285750" algn="l">
              <a:spcBef>
                <a:spcPts val="0"/>
              </a:spcBef>
              <a:buClr>
                <a:schemeClr val="dk1"/>
              </a:buClr>
              <a:buSzPts val="1200"/>
              <a:buFont typeface="Arial" panose="020B0604020202020204" pitchFamily="34" charset="0"/>
              <a:buChar char="•"/>
            </a:pPr>
            <a:r>
              <a:rPr lang="pt-BR" sz="1600" b="1" dirty="0">
                <a:solidFill>
                  <a:schemeClr val="tx1"/>
                </a:solidFill>
              </a:rPr>
              <a:t>Desenvolvimento do Modelo Rede Neural</a:t>
            </a:r>
          </a:p>
          <a:p>
            <a:pPr marL="895350" lvl="1" indent="-285750" algn="l">
              <a:spcBef>
                <a:spcPts val="0"/>
              </a:spcBef>
              <a:buClr>
                <a:schemeClr val="dk1"/>
              </a:buClr>
              <a:buSzPts val="1200"/>
              <a:buFont typeface="Courier New" panose="02070309020205020404" pitchFamily="49" charset="0"/>
              <a:buChar char="o"/>
            </a:pPr>
            <a:r>
              <a:rPr lang="pt-BR" sz="1600" dirty="0">
                <a:solidFill>
                  <a:schemeClr val="tx1"/>
                </a:solidFill>
              </a:rPr>
              <a:t>(SOM) Rede Neural com aprendizado não supervisionado.</a:t>
            </a:r>
          </a:p>
          <a:p>
            <a:pPr marL="895350" lvl="1" indent="-285750" algn="l">
              <a:spcBef>
                <a:spcPts val="0"/>
              </a:spcBef>
              <a:buClr>
                <a:schemeClr val="dk1"/>
              </a:buClr>
              <a:buSzPts val="1200"/>
              <a:buFont typeface="Courier New" panose="02070309020205020404" pitchFamily="49" charset="0"/>
              <a:buChar char="o"/>
            </a:pPr>
            <a:endParaRPr lang="pt-BR" sz="1600" dirty="0">
              <a:solidFill>
                <a:schemeClr val="tx1"/>
              </a:solidFill>
            </a:endParaRPr>
          </a:p>
          <a:p>
            <a:pPr marL="438150" indent="-285750" algn="l">
              <a:spcBef>
                <a:spcPts val="0"/>
              </a:spcBef>
              <a:buClr>
                <a:schemeClr val="dk1"/>
              </a:buClr>
              <a:buSzPts val="1200"/>
              <a:buFont typeface="Arial" panose="020B0604020202020204" pitchFamily="34" charset="0"/>
              <a:buChar char="•"/>
            </a:pPr>
            <a:r>
              <a:rPr lang="pt-BR" sz="1600" b="1" dirty="0">
                <a:solidFill>
                  <a:schemeClr val="tx1"/>
                </a:solidFill>
              </a:rPr>
              <a:t>Ferramentas Utilizadas</a:t>
            </a:r>
          </a:p>
          <a:p>
            <a:pPr marL="895350" lvl="1" indent="-285750" algn="l">
              <a:spcBef>
                <a:spcPts val="0"/>
              </a:spcBef>
              <a:buClr>
                <a:schemeClr val="dk1"/>
              </a:buClr>
              <a:buSzPts val="1200"/>
              <a:buFont typeface="Courier New" panose="02070309020205020404" pitchFamily="49" charset="0"/>
              <a:buChar char="o"/>
            </a:pPr>
            <a:r>
              <a:rPr lang="pt-BR" sz="1600" dirty="0">
                <a:solidFill>
                  <a:schemeClr val="tx1"/>
                </a:solidFill>
              </a:rPr>
              <a:t>Linguagens de programação Dart e Python;</a:t>
            </a:r>
          </a:p>
          <a:p>
            <a:pPr marL="895350" lvl="1" indent="-285750" algn="l">
              <a:spcBef>
                <a:spcPts val="0"/>
              </a:spcBef>
              <a:buClr>
                <a:schemeClr val="dk1"/>
              </a:buClr>
              <a:buSzPts val="1200"/>
              <a:buFont typeface="Courier New" panose="02070309020205020404" pitchFamily="49" charset="0"/>
              <a:buChar char="o"/>
            </a:pPr>
            <a:r>
              <a:rPr lang="pt-BR" sz="1600" dirty="0">
                <a:solidFill>
                  <a:schemeClr val="tx1"/>
                </a:solidFill>
              </a:rPr>
              <a:t>Frameworks Flutter e Django REST;</a:t>
            </a:r>
          </a:p>
          <a:p>
            <a:pPr marL="895350" lvl="1" indent="-285750" algn="l">
              <a:spcBef>
                <a:spcPts val="0"/>
              </a:spcBef>
              <a:buClr>
                <a:schemeClr val="dk1"/>
              </a:buClr>
              <a:buSzPts val="1200"/>
              <a:buFont typeface="Courier New" panose="02070309020205020404" pitchFamily="49" charset="0"/>
              <a:buChar char="o"/>
            </a:pPr>
            <a:r>
              <a:rPr lang="pt-BR" sz="1600" dirty="0">
                <a:solidFill>
                  <a:schemeClr val="tx1"/>
                </a:solidFill>
              </a:rPr>
              <a:t>Banco da Dados.</a:t>
            </a:r>
          </a:p>
          <a:p>
            <a:pPr marL="438150" indent="-285750" algn="l">
              <a:spcBef>
                <a:spcPts val="0"/>
              </a:spcBef>
              <a:buClr>
                <a:schemeClr val="dk1"/>
              </a:buClr>
              <a:buSzPts val="1200"/>
              <a:buFont typeface="Courier New" panose="02070309020205020404" pitchFamily="49" charset="0"/>
              <a:buChar char="o"/>
            </a:pPr>
            <a:endParaRPr lang="pt-BR" sz="2000" dirty="0">
              <a:solidFill>
                <a:schemeClr val="tx1"/>
              </a:solidFill>
            </a:endParaRPr>
          </a:p>
        </p:txBody>
      </p:sp>
      <p:sp>
        <p:nvSpPr>
          <p:cNvPr id="189" name="Google Shape;189;p20"/>
          <p:cNvSpPr txBox="1"/>
          <p:nvPr/>
        </p:nvSpPr>
        <p:spPr>
          <a:xfrm>
            <a:off x="539552" y="0"/>
            <a:ext cx="8604448" cy="6995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Century Gothic"/>
              <a:buNone/>
            </a:pPr>
            <a:r>
              <a:rPr lang="pt-BR" sz="2500" b="1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Metodologia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0" name="Google Shape;190;p20" descr="Logotipo&#10;&#10;Descrição gerada automaticament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53782" y="4373297"/>
            <a:ext cx="614826" cy="614826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20"/>
          <p:cNvSpPr txBox="1">
            <a:spLocks noGrp="1"/>
          </p:cNvSpPr>
          <p:nvPr>
            <p:ph type="sldNum" idx="12"/>
          </p:nvPr>
        </p:nvSpPr>
        <p:spPr>
          <a:xfrm>
            <a:off x="7924800" y="4767264"/>
            <a:ext cx="428982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pt-BR" dirty="0"/>
              <a:t>10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09127503"/>
      </p:ext>
    </p:extLst>
  </p:cSld>
  <p:clrMapOvr>
    <a:masterClrMapping/>
  </p:clrMapOvr>
  <p:transition spd="slow">
    <p:push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0"/>
          <p:cNvSpPr/>
          <p:nvPr/>
        </p:nvSpPr>
        <p:spPr>
          <a:xfrm>
            <a:off x="-2" y="0"/>
            <a:ext cx="9144002" cy="766025"/>
          </a:xfrm>
          <a:prstGeom prst="rect">
            <a:avLst/>
          </a:prstGeom>
          <a:solidFill>
            <a:srgbClr val="00314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6" name="Google Shape;186;p20"/>
          <p:cNvCxnSpPr/>
          <p:nvPr/>
        </p:nvCxnSpPr>
        <p:spPr>
          <a:xfrm>
            <a:off x="251520" y="142858"/>
            <a:ext cx="0" cy="484676"/>
          </a:xfrm>
          <a:prstGeom prst="straightConnector1">
            <a:avLst/>
          </a:prstGeom>
          <a:noFill/>
          <a:ln w="38100" cap="flat" cmpd="sng">
            <a:solidFill>
              <a:srgbClr val="FFC00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</p:cxnSp>
      <p:sp>
        <p:nvSpPr>
          <p:cNvPr id="187" name="Google Shape;187;p20"/>
          <p:cNvSpPr/>
          <p:nvPr/>
        </p:nvSpPr>
        <p:spPr>
          <a:xfrm>
            <a:off x="8172400" y="464883"/>
            <a:ext cx="482208" cy="325301"/>
          </a:xfrm>
          <a:prstGeom prst="triangle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20"/>
          <p:cNvSpPr txBox="1">
            <a:spLocks noGrp="1"/>
          </p:cNvSpPr>
          <p:nvPr>
            <p:ph type="subTitle" idx="1"/>
          </p:nvPr>
        </p:nvSpPr>
        <p:spPr>
          <a:xfrm>
            <a:off x="1067777" y="1063612"/>
            <a:ext cx="7008446" cy="37538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38150" indent="-285750" algn="l">
              <a:spcBef>
                <a:spcPts val="0"/>
              </a:spcBef>
              <a:buClr>
                <a:schemeClr val="dk1"/>
              </a:buClr>
              <a:buSzPts val="1200"/>
              <a:buFont typeface="Arial" panose="020B0604020202020204" pitchFamily="34" charset="0"/>
              <a:buChar char="•"/>
            </a:pPr>
            <a:r>
              <a:rPr lang="pt-BR" sz="1600" b="1" dirty="0">
                <a:solidFill>
                  <a:schemeClr val="tx1"/>
                </a:solidFill>
              </a:rPr>
              <a:t>Pré-processamento dos dados</a:t>
            </a:r>
          </a:p>
          <a:p>
            <a:pPr marL="895350" lvl="1" indent="-285750" algn="l">
              <a:spcBef>
                <a:spcPts val="0"/>
              </a:spcBef>
              <a:buClr>
                <a:schemeClr val="dk1"/>
              </a:buClr>
              <a:buSzPts val="1200"/>
              <a:buFont typeface="Courier New" panose="02070309020205020404" pitchFamily="49" charset="0"/>
              <a:buChar char="o"/>
            </a:pPr>
            <a:r>
              <a:rPr lang="pt-BR" sz="1600" dirty="0">
                <a:solidFill>
                  <a:schemeClr val="tx1"/>
                </a:solidFill>
              </a:rPr>
              <a:t>Transformar variáveis categóricas</a:t>
            </a:r>
            <a:r>
              <a:rPr lang="pt-BR" sz="1600" b="1" dirty="0">
                <a:solidFill>
                  <a:schemeClr val="tx1"/>
                </a:solidFill>
              </a:rPr>
              <a:t> </a:t>
            </a:r>
            <a:r>
              <a:rPr lang="pt-BR" sz="1600" dirty="0">
                <a:solidFill>
                  <a:schemeClr val="tx1"/>
                </a:solidFill>
              </a:rPr>
              <a:t>em numéricas;</a:t>
            </a:r>
          </a:p>
          <a:p>
            <a:pPr marL="895350" lvl="1" indent="-285750" algn="l">
              <a:spcBef>
                <a:spcPts val="0"/>
              </a:spcBef>
              <a:buClr>
                <a:schemeClr val="dk1"/>
              </a:buClr>
              <a:buSzPts val="1200"/>
              <a:buFont typeface="Courier New" panose="02070309020205020404" pitchFamily="49" charset="0"/>
              <a:buChar char="o"/>
            </a:pPr>
            <a:r>
              <a:rPr lang="pt-BR" sz="1600" dirty="0">
                <a:solidFill>
                  <a:schemeClr val="tx1"/>
                </a:solidFill>
              </a:rPr>
              <a:t>Limpeza, normalização e organização dos dados.</a:t>
            </a:r>
            <a:endParaRPr lang="pt-BR" sz="1600" b="1" dirty="0">
              <a:solidFill>
                <a:schemeClr val="tx1"/>
              </a:solidFill>
            </a:endParaRPr>
          </a:p>
          <a:p>
            <a:pPr marL="895350" lvl="1" indent="-285750" algn="l">
              <a:spcBef>
                <a:spcPts val="0"/>
              </a:spcBef>
              <a:buClr>
                <a:schemeClr val="dk1"/>
              </a:buClr>
              <a:buSzPts val="1200"/>
              <a:buFont typeface="Arial" panose="020B0604020202020204" pitchFamily="34" charset="0"/>
              <a:buChar char="•"/>
            </a:pPr>
            <a:endParaRPr lang="pt-BR" sz="1600" b="1" dirty="0">
              <a:solidFill>
                <a:schemeClr val="tx1"/>
              </a:solidFill>
            </a:endParaRPr>
          </a:p>
          <a:p>
            <a:pPr marL="438150" indent="-285750" algn="l">
              <a:spcBef>
                <a:spcPts val="0"/>
              </a:spcBef>
              <a:buClr>
                <a:schemeClr val="dk1"/>
              </a:buClr>
              <a:buSzPts val="1200"/>
              <a:buFont typeface="Arial" panose="020B0604020202020204" pitchFamily="34" charset="0"/>
              <a:buChar char="•"/>
            </a:pPr>
            <a:r>
              <a:rPr lang="pt-BR" sz="1600" b="1" dirty="0">
                <a:solidFill>
                  <a:schemeClr val="tx1"/>
                </a:solidFill>
              </a:rPr>
              <a:t>Treinamento do Modelo</a:t>
            </a:r>
          </a:p>
          <a:p>
            <a:pPr marL="895350" lvl="1" indent="-285750" algn="l">
              <a:spcBef>
                <a:spcPts val="0"/>
              </a:spcBef>
              <a:buClr>
                <a:schemeClr val="dk1"/>
              </a:buClr>
              <a:buSzPts val="1200"/>
              <a:buFont typeface="Courier New" panose="02070309020205020404" pitchFamily="49" charset="0"/>
              <a:buChar char="o"/>
            </a:pPr>
            <a:r>
              <a:rPr lang="pt-BR" sz="1600" dirty="0">
                <a:solidFill>
                  <a:schemeClr val="tx1"/>
                </a:solidFill>
              </a:rPr>
              <a:t>A rede irá se auto-organizar e formar grupos de gestantes com características semelhantes.</a:t>
            </a:r>
          </a:p>
          <a:p>
            <a:pPr marL="609600" lvl="1" indent="0" algn="l">
              <a:spcBef>
                <a:spcPts val="0"/>
              </a:spcBef>
              <a:buClr>
                <a:schemeClr val="dk1"/>
              </a:buClr>
              <a:buSzPts val="1200"/>
            </a:pPr>
            <a:endParaRPr lang="pt-BR" sz="1600" b="1" dirty="0">
              <a:solidFill>
                <a:schemeClr val="tx1"/>
              </a:solidFill>
            </a:endParaRPr>
          </a:p>
          <a:p>
            <a:pPr marL="438150" indent="-285750" algn="l">
              <a:spcBef>
                <a:spcPts val="0"/>
              </a:spcBef>
              <a:buClr>
                <a:schemeClr val="dk1"/>
              </a:buClr>
              <a:buSzPts val="1200"/>
              <a:buFont typeface="Arial" panose="020B0604020202020204" pitchFamily="34" charset="0"/>
              <a:buChar char="•"/>
            </a:pPr>
            <a:r>
              <a:rPr lang="pt-BR" sz="1600" b="1" dirty="0">
                <a:solidFill>
                  <a:schemeClr val="tx1"/>
                </a:solidFill>
              </a:rPr>
              <a:t>Analise e Validação dos Dados</a:t>
            </a:r>
          </a:p>
          <a:p>
            <a:pPr marL="895350" lvl="1" indent="-285750" algn="l">
              <a:spcBef>
                <a:spcPts val="0"/>
              </a:spcBef>
              <a:buClr>
                <a:schemeClr val="dk1"/>
              </a:buClr>
              <a:buSzPts val="1200"/>
              <a:buFont typeface="Courier New" panose="02070309020205020404" pitchFamily="49" charset="0"/>
              <a:buChar char="o"/>
            </a:pPr>
            <a:r>
              <a:rPr lang="pt-BR" sz="1600" dirty="0">
                <a:solidFill>
                  <a:schemeClr val="tx1"/>
                </a:solidFill>
              </a:rPr>
              <a:t>Métricas utilizando o </a:t>
            </a:r>
            <a:r>
              <a:rPr lang="pt-BR" sz="1600" i="1" dirty="0">
                <a:solidFill>
                  <a:schemeClr val="tx1"/>
                </a:solidFill>
              </a:rPr>
              <a:t>Silhouette Score  </a:t>
            </a:r>
            <a:r>
              <a:rPr lang="pt-BR" sz="1600" dirty="0">
                <a:solidFill>
                  <a:schemeClr val="tx1"/>
                </a:solidFill>
              </a:rPr>
              <a:t>para validar a coesão dos clusters.</a:t>
            </a:r>
            <a:endParaRPr lang="pt-BR" sz="1600" b="1" dirty="0">
              <a:solidFill>
                <a:schemeClr val="tx1"/>
              </a:solidFill>
            </a:endParaRPr>
          </a:p>
          <a:p>
            <a:pPr marL="895350" lvl="1" indent="-285750" algn="l">
              <a:spcBef>
                <a:spcPts val="0"/>
              </a:spcBef>
              <a:buClr>
                <a:schemeClr val="dk1"/>
              </a:buClr>
              <a:buSzPts val="1200"/>
              <a:buFont typeface="Courier New" panose="02070309020205020404" pitchFamily="49" charset="0"/>
              <a:buChar char="o"/>
            </a:pPr>
            <a:endParaRPr lang="pt-BR" sz="1600" b="1" dirty="0">
              <a:solidFill>
                <a:schemeClr val="tx1"/>
              </a:solidFill>
            </a:endParaRPr>
          </a:p>
          <a:p>
            <a:pPr marL="438150" indent="-285750" algn="l">
              <a:spcBef>
                <a:spcPts val="0"/>
              </a:spcBef>
              <a:buClr>
                <a:schemeClr val="dk1"/>
              </a:buClr>
              <a:buSzPts val="1200"/>
              <a:buFont typeface="Arial" panose="020B0604020202020204" pitchFamily="34" charset="0"/>
              <a:buChar char="•"/>
            </a:pPr>
            <a:r>
              <a:rPr lang="pt-BR" sz="1600" b="1" dirty="0">
                <a:solidFill>
                  <a:schemeClr val="tx1"/>
                </a:solidFill>
              </a:rPr>
              <a:t>Interpretação dos Resultados</a:t>
            </a:r>
          </a:p>
          <a:p>
            <a:pPr marL="895350" lvl="1" indent="-285750" algn="l">
              <a:spcBef>
                <a:spcPts val="0"/>
              </a:spcBef>
              <a:buClr>
                <a:schemeClr val="dk1"/>
              </a:buClr>
              <a:buSzPts val="1200"/>
              <a:buFont typeface="Courier New" panose="02070309020205020404" pitchFamily="49" charset="0"/>
              <a:buChar char="o"/>
            </a:pPr>
            <a:r>
              <a:rPr lang="pt-BR" sz="1600" dirty="0">
                <a:solidFill>
                  <a:schemeClr val="tx1"/>
                </a:solidFill>
              </a:rPr>
              <a:t>Identificação de padrões recorrentes e formulação de recomendações baseadas nos grupos de risco.</a:t>
            </a:r>
          </a:p>
          <a:p>
            <a:pPr marL="895350" lvl="1" indent="-285750" algn="l">
              <a:spcBef>
                <a:spcPts val="0"/>
              </a:spcBef>
              <a:buClr>
                <a:schemeClr val="dk1"/>
              </a:buClr>
              <a:buSzPts val="1200"/>
              <a:buFont typeface="Courier New" panose="02070309020205020404" pitchFamily="49" charset="0"/>
              <a:buChar char="o"/>
            </a:pPr>
            <a:endParaRPr lang="pt-BR" sz="1600" b="1" dirty="0">
              <a:solidFill>
                <a:schemeClr val="tx1"/>
              </a:solidFill>
            </a:endParaRPr>
          </a:p>
        </p:txBody>
      </p:sp>
      <p:sp>
        <p:nvSpPr>
          <p:cNvPr id="189" name="Google Shape;189;p20"/>
          <p:cNvSpPr txBox="1"/>
          <p:nvPr/>
        </p:nvSpPr>
        <p:spPr>
          <a:xfrm>
            <a:off x="539552" y="0"/>
            <a:ext cx="8604448" cy="6995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Century Gothic"/>
              <a:buNone/>
            </a:pPr>
            <a:r>
              <a:rPr lang="pt-BR" sz="2500" b="1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Metodologia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0" name="Google Shape;190;p20" descr="Logotipo&#10;&#10;Descrição gerada automaticament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53782" y="4373297"/>
            <a:ext cx="614826" cy="614826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20"/>
          <p:cNvSpPr txBox="1">
            <a:spLocks noGrp="1"/>
          </p:cNvSpPr>
          <p:nvPr>
            <p:ph type="sldNum" idx="12"/>
          </p:nvPr>
        </p:nvSpPr>
        <p:spPr>
          <a:xfrm>
            <a:off x="7924800" y="4767264"/>
            <a:ext cx="428982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pt-BR" dirty="0"/>
              <a:t>11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46025315"/>
      </p:ext>
    </p:extLst>
  </p:cSld>
  <p:clrMapOvr>
    <a:masterClrMapping/>
  </p:clrMapOvr>
  <p:transition spd="slow">
    <p:push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2"/>
          <p:cNvSpPr/>
          <p:nvPr/>
        </p:nvSpPr>
        <p:spPr>
          <a:xfrm>
            <a:off x="-2" y="0"/>
            <a:ext cx="9144002" cy="766025"/>
          </a:xfrm>
          <a:prstGeom prst="rect">
            <a:avLst/>
          </a:prstGeom>
          <a:solidFill>
            <a:srgbClr val="00314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8" name="Google Shape;208;p22"/>
          <p:cNvCxnSpPr/>
          <p:nvPr/>
        </p:nvCxnSpPr>
        <p:spPr>
          <a:xfrm>
            <a:off x="251520" y="142858"/>
            <a:ext cx="0" cy="484676"/>
          </a:xfrm>
          <a:prstGeom prst="straightConnector1">
            <a:avLst/>
          </a:prstGeom>
          <a:noFill/>
          <a:ln w="38100" cap="flat" cmpd="sng">
            <a:solidFill>
              <a:srgbClr val="FFC00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</p:cxnSp>
      <p:sp>
        <p:nvSpPr>
          <p:cNvPr id="209" name="Google Shape;209;p22"/>
          <p:cNvSpPr/>
          <p:nvPr/>
        </p:nvSpPr>
        <p:spPr>
          <a:xfrm>
            <a:off x="8172400" y="464883"/>
            <a:ext cx="482208" cy="325301"/>
          </a:xfrm>
          <a:prstGeom prst="triangle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2"/>
          <p:cNvSpPr txBox="1"/>
          <p:nvPr/>
        </p:nvSpPr>
        <p:spPr>
          <a:xfrm>
            <a:off x="539552" y="0"/>
            <a:ext cx="8604448" cy="6995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Century Gothic"/>
              <a:buNone/>
            </a:pPr>
            <a:r>
              <a:rPr lang="pt-BR" sz="2500" b="1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Metodologia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2" name="Google Shape;212;p22" descr="Logotipo&#10;&#10;Descrição gerada automaticament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53782" y="4373297"/>
            <a:ext cx="614826" cy="614826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2"/>
          <p:cNvSpPr txBox="1">
            <a:spLocks noGrp="1"/>
          </p:cNvSpPr>
          <p:nvPr>
            <p:ph type="sldNum" idx="12"/>
          </p:nvPr>
        </p:nvSpPr>
        <p:spPr>
          <a:xfrm>
            <a:off x="7924800" y="4767264"/>
            <a:ext cx="428982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pt-BR" dirty="0"/>
              <a:t>12</a:t>
            </a:r>
            <a:endParaRPr dirty="0"/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C850BF87-9072-DCF3-6C2E-4AC8C94B7D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0160" y="1361366"/>
            <a:ext cx="6583680" cy="3234442"/>
          </a:xfrm>
          <a:prstGeom prst="rect">
            <a:avLst/>
          </a:prstGeom>
        </p:spPr>
      </p:pic>
      <p:sp>
        <p:nvSpPr>
          <p:cNvPr id="3" name="Google Shape;180;p19">
            <a:extLst>
              <a:ext uri="{FF2B5EF4-FFF2-40B4-BE49-F238E27FC236}">
                <a16:creationId xmlns:a16="http://schemas.microsoft.com/office/drawing/2014/main" id="{E54AFEB6-D55A-1430-5CAD-34884AE8C91C}"/>
              </a:ext>
            </a:extLst>
          </p:cNvPr>
          <p:cNvSpPr txBox="1"/>
          <p:nvPr/>
        </p:nvSpPr>
        <p:spPr>
          <a:xfrm>
            <a:off x="1182189" y="916071"/>
            <a:ext cx="6792685" cy="4975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>
              <a:spcAft>
                <a:spcPts val="1000"/>
              </a:spcAft>
            </a:pPr>
            <a:r>
              <a:rPr lang="pt-BR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Figura 2 - Modelo de Rede Neural integrada ao aplicativo de coleta</a:t>
            </a:r>
            <a:endParaRPr lang="pt-BR" sz="1200" i="1" dirty="0"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Google Shape;179;p19">
            <a:extLst>
              <a:ext uri="{FF2B5EF4-FFF2-40B4-BE49-F238E27FC236}">
                <a16:creationId xmlns:a16="http://schemas.microsoft.com/office/drawing/2014/main" id="{2837E993-8F1B-9C63-5F51-B0C92662AC5A}"/>
              </a:ext>
            </a:extLst>
          </p:cNvPr>
          <p:cNvSpPr txBox="1"/>
          <p:nvPr/>
        </p:nvSpPr>
        <p:spPr>
          <a:xfrm>
            <a:off x="1182189" y="4647639"/>
            <a:ext cx="6792685" cy="369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Fonte: Autoria Própria (2025).</a:t>
            </a:r>
            <a:endParaRPr lang="pt-BR" sz="12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entury Gothic"/>
            </a:endParaRPr>
          </a:p>
        </p:txBody>
      </p:sp>
    </p:spTree>
    <p:extLst>
      <p:ext uri="{BB962C8B-B14F-4D97-AF65-F5344CB8AC3E}">
        <p14:creationId xmlns:p14="http://schemas.microsoft.com/office/powerpoint/2010/main" val="2725284493"/>
      </p:ext>
    </p:extLst>
  </p:cSld>
  <p:clrMapOvr>
    <a:masterClrMapping/>
  </p:clrMapOvr>
  <p:transition spd="slow">
    <p:push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3"/>
          <p:cNvSpPr/>
          <p:nvPr/>
        </p:nvSpPr>
        <p:spPr>
          <a:xfrm>
            <a:off x="-2" y="0"/>
            <a:ext cx="9144002" cy="766025"/>
          </a:xfrm>
          <a:prstGeom prst="rect">
            <a:avLst/>
          </a:prstGeom>
          <a:solidFill>
            <a:srgbClr val="00314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0" name="Google Shape;220;p23"/>
          <p:cNvCxnSpPr/>
          <p:nvPr/>
        </p:nvCxnSpPr>
        <p:spPr>
          <a:xfrm>
            <a:off x="251520" y="142858"/>
            <a:ext cx="0" cy="484676"/>
          </a:xfrm>
          <a:prstGeom prst="straightConnector1">
            <a:avLst/>
          </a:prstGeom>
          <a:noFill/>
          <a:ln w="38100" cap="flat" cmpd="sng">
            <a:solidFill>
              <a:srgbClr val="FFC00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</p:cxnSp>
      <p:sp>
        <p:nvSpPr>
          <p:cNvPr id="221" name="Google Shape;221;p23"/>
          <p:cNvSpPr/>
          <p:nvPr/>
        </p:nvSpPr>
        <p:spPr>
          <a:xfrm>
            <a:off x="8172400" y="464883"/>
            <a:ext cx="482208" cy="325301"/>
          </a:xfrm>
          <a:prstGeom prst="triangle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3"/>
          <p:cNvSpPr txBox="1"/>
          <p:nvPr/>
        </p:nvSpPr>
        <p:spPr>
          <a:xfrm>
            <a:off x="539552" y="0"/>
            <a:ext cx="8604448" cy="6995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Century Gothic"/>
              <a:buNone/>
            </a:pPr>
            <a:r>
              <a:rPr lang="pt-BR" sz="2500" b="1" i="0" u="none" strike="noStrike" cap="none" dirty="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Cronograma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23" name="Google Shape;223;p23"/>
          <p:cNvGraphicFramePr/>
          <p:nvPr>
            <p:extLst>
              <p:ext uri="{D42A27DB-BD31-4B8C-83A1-F6EECF244321}">
                <p14:modId xmlns:p14="http://schemas.microsoft.com/office/powerpoint/2010/main" val="1581856332"/>
              </p:ext>
            </p:extLst>
          </p:nvPr>
        </p:nvGraphicFramePr>
        <p:xfrm>
          <a:off x="1249786" y="1244130"/>
          <a:ext cx="6644428" cy="3069188"/>
        </p:xfrm>
        <a:graphic>
          <a:graphicData uri="http://schemas.openxmlformats.org/drawingml/2006/table">
            <a:tbl>
              <a:tblPr>
                <a:noFill/>
                <a:tableStyleId>{E811E5BC-DF20-499A-A17A-B5CD9756F5C1}</a:tableStyleId>
              </a:tblPr>
              <a:tblGrid>
                <a:gridCol w="20280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11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176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4288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8065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6111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6176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61767">
                  <a:extLst>
                    <a:ext uri="{9D8B030D-6E8A-4147-A177-3AD203B41FA5}">
                      <a16:colId xmlns:a16="http://schemas.microsoft.com/office/drawing/2014/main" val="2677933722"/>
                    </a:ext>
                  </a:extLst>
                </a:gridCol>
                <a:gridCol w="46176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6176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6176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6307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b="1" i="0" u="none" strike="noStrike" cap="none" dirty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Ação</a:t>
                      </a:r>
                      <a:endParaRPr dirty="0"/>
                    </a:p>
                  </a:txBody>
                  <a:tcPr marL="68575" marR="68575" marT="0" marB="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000" b="1" dirty="0">
                          <a:solidFill>
                            <a:schemeClr val="lt1"/>
                          </a:solidFill>
                        </a:rPr>
                        <a:t>Mar/</a:t>
                      </a: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None/>
                      </a:pPr>
                      <a:r>
                        <a:rPr lang="pt-BR" sz="1000" b="1" dirty="0">
                          <a:solidFill>
                            <a:schemeClr val="lt1"/>
                          </a:solidFill>
                        </a:rPr>
                        <a:t>2025</a:t>
                      </a:r>
                    </a:p>
                  </a:txBody>
                  <a:tcPr marL="68575" marR="68575" marT="0" marB="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000" b="1" dirty="0">
                          <a:solidFill>
                            <a:schemeClr val="lt1"/>
                          </a:solidFill>
                        </a:rPr>
                        <a:t>Abr/</a:t>
                      </a: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None/>
                      </a:pPr>
                      <a:r>
                        <a:rPr lang="pt-BR" sz="1000" b="1" dirty="0">
                          <a:solidFill>
                            <a:schemeClr val="lt1"/>
                          </a:solidFill>
                        </a:rPr>
                        <a:t>2025</a:t>
                      </a:r>
                    </a:p>
                  </a:txBody>
                  <a:tcPr marL="68575" marR="68575" marT="0" marB="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000" b="1" dirty="0">
                          <a:solidFill>
                            <a:schemeClr val="lt1"/>
                          </a:solidFill>
                        </a:rPr>
                        <a:t>Mai/</a:t>
                      </a: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None/>
                      </a:pPr>
                      <a:r>
                        <a:rPr lang="pt-BR" sz="1000" b="1" dirty="0">
                          <a:solidFill>
                            <a:schemeClr val="lt1"/>
                          </a:solidFill>
                        </a:rPr>
                        <a:t>2025</a:t>
                      </a:r>
                    </a:p>
                  </a:txBody>
                  <a:tcPr marL="68575" marR="68575" marT="0" marB="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000" b="1" dirty="0">
                          <a:solidFill>
                            <a:schemeClr val="lt1"/>
                          </a:solidFill>
                        </a:rPr>
                        <a:t>Jun/</a:t>
                      </a: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None/>
                      </a:pPr>
                      <a:r>
                        <a:rPr lang="pt-BR" sz="1000" b="1" dirty="0">
                          <a:solidFill>
                            <a:schemeClr val="lt1"/>
                          </a:solidFill>
                        </a:rPr>
                        <a:t>2025</a:t>
                      </a:r>
                    </a:p>
                  </a:txBody>
                  <a:tcPr marL="68575" marR="68575" marT="0" marB="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000" b="1" dirty="0">
                          <a:solidFill>
                            <a:schemeClr val="lt1"/>
                          </a:solidFill>
                        </a:rPr>
                        <a:t>Jul/</a:t>
                      </a: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None/>
                      </a:pPr>
                      <a:r>
                        <a:rPr lang="pt-BR" sz="1000" b="1" dirty="0">
                          <a:solidFill>
                            <a:schemeClr val="lt1"/>
                          </a:solidFill>
                        </a:rPr>
                        <a:t>2025</a:t>
                      </a:r>
                    </a:p>
                  </a:txBody>
                  <a:tcPr marL="68575" marR="68575" marT="0" marB="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000" b="1" dirty="0">
                          <a:solidFill>
                            <a:schemeClr val="lt1"/>
                          </a:solidFill>
                        </a:rPr>
                        <a:t>Ago/</a:t>
                      </a: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None/>
                      </a:pPr>
                      <a:r>
                        <a:rPr lang="pt-BR" sz="1000" b="1" dirty="0">
                          <a:solidFill>
                            <a:schemeClr val="lt1"/>
                          </a:solidFill>
                        </a:rPr>
                        <a:t>2025</a:t>
                      </a:r>
                    </a:p>
                  </a:txBody>
                  <a:tcPr marL="68575" marR="68575" marT="0" marB="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000" b="1" dirty="0">
                          <a:solidFill>
                            <a:schemeClr val="lt1"/>
                          </a:solidFill>
                        </a:rPr>
                        <a:t>Set/</a:t>
                      </a: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None/>
                      </a:pPr>
                      <a:r>
                        <a:rPr lang="pt-BR" sz="1000" b="1" dirty="0">
                          <a:solidFill>
                            <a:schemeClr val="lt1"/>
                          </a:solidFill>
                        </a:rPr>
                        <a:t>2025</a:t>
                      </a:r>
                    </a:p>
                  </a:txBody>
                  <a:tcPr marL="68575" marR="68575" marT="0" marB="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000" b="1" dirty="0">
                          <a:solidFill>
                            <a:schemeClr val="lt1"/>
                          </a:solidFill>
                        </a:rPr>
                        <a:t>Out/</a:t>
                      </a:r>
                      <a:endParaRPr sz="1000" b="1" dirty="0">
                        <a:solidFill>
                          <a:schemeClr val="lt1"/>
                        </a:solidFill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None/>
                      </a:pPr>
                      <a:r>
                        <a:rPr lang="pt-BR" sz="1000" b="1" dirty="0">
                          <a:solidFill>
                            <a:schemeClr val="lt1"/>
                          </a:solidFill>
                        </a:rPr>
                        <a:t>2025</a:t>
                      </a:r>
                      <a:endParaRPr sz="1000" b="1" dirty="0">
                        <a:solidFill>
                          <a:schemeClr val="lt1"/>
                        </a:solidFill>
                      </a:endParaRPr>
                    </a:p>
                  </a:txBody>
                  <a:tcPr marL="68575" marR="68575" marT="0" marB="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000" b="1" dirty="0" err="1">
                          <a:solidFill>
                            <a:schemeClr val="lt1"/>
                          </a:solidFill>
                        </a:rPr>
                        <a:t>Nov</a:t>
                      </a:r>
                      <a:r>
                        <a:rPr lang="pt-BR" sz="1000" b="1" dirty="0">
                          <a:solidFill>
                            <a:schemeClr val="lt1"/>
                          </a:solidFill>
                        </a:rPr>
                        <a:t>/</a:t>
                      </a:r>
                      <a:endParaRPr sz="1000" b="1" dirty="0">
                        <a:solidFill>
                          <a:schemeClr val="lt1"/>
                        </a:solidFill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b="1" dirty="0">
                          <a:solidFill>
                            <a:schemeClr val="lt1"/>
                          </a:solidFill>
                        </a:rPr>
                        <a:t>2025</a:t>
                      </a:r>
                      <a:endParaRPr sz="1000" b="1" dirty="0">
                        <a:solidFill>
                          <a:schemeClr val="lt1"/>
                        </a:solidFill>
                      </a:endParaRPr>
                    </a:p>
                  </a:txBody>
                  <a:tcPr marL="68575" marR="68575" marT="0" marB="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000" b="1" dirty="0">
                          <a:solidFill>
                            <a:schemeClr val="lt1"/>
                          </a:solidFill>
                        </a:rPr>
                        <a:t>Dez/</a:t>
                      </a:r>
                      <a:endParaRPr sz="1000" b="1" dirty="0">
                        <a:solidFill>
                          <a:schemeClr val="lt1"/>
                        </a:solidFill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b="1" dirty="0">
                          <a:solidFill>
                            <a:schemeClr val="lt1"/>
                          </a:solidFill>
                        </a:rPr>
                        <a:t>2025</a:t>
                      </a:r>
                      <a:endParaRPr sz="1000" b="1" dirty="0">
                        <a:solidFill>
                          <a:schemeClr val="lt1"/>
                        </a:solidFill>
                      </a:endParaRPr>
                    </a:p>
                  </a:txBody>
                  <a:tcPr marL="68575" marR="68575" marT="0" marB="0" anchor="ctr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6643"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dirty="0"/>
                        <a:t>Revisão de literatura e definição de objetivos específicos</a:t>
                      </a:r>
                      <a:endParaRPr sz="10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u="none" strike="noStrike" cap="none" dirty="0">
                        <a:ln>
                          <a:solidFill>
                            <a:sysClr val="windowText" lastClr="000000"/>
                          </a:solidFill>
                        </a:ln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u="none" strike="noStrike" cap="none" dirty="0">
                        <a:ln>
                          <a:solidFill>
                            <a:sysClr val="windowText" lastClr="000000"/>
                          </a:solidFill>
                        </a:ln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u="none" strike="noStrike" cap="none" dirty="0">
                        <a:ln>
                          <a:solidFill>
                            <a:sysClr val="windowText" lastClr="000000"/>
                          </a:solidFill>
                        </a:ln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u="none" strike="noStrike" cap="none" dirty="0">
                        <a:ln>
                          <a:solidFill>
                            <a:sysClr val="windowText" lastClr="000000"/>
                          </a:solidFill>
                        </a:ln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u="none" strike="noStrike" cap="none" dirty="0">
                        <a:ln>
                          <a:solidFill>
                            <a:sysClr val="windowText" lastClr="000000"/>
                          </a:solidFill>
                        </a:ln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2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2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9963"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dirty="0"/>
                        <a:t>Coleta e pré-processamento dos dados e desenvolvimento do aplicativo de celular. </a:t>
                      </a:r>
                      <a:endParaRPr sz="10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2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2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u="none" strike="noStrike" cap="none" dirty="0">
                          <a:ln>
                            <a:solidFill>
                              <a:schemeClr val="bg1">
                                <a:lumMod val="50000"/>
                              </a:schemeClr>
                            </a:solidFill>
                          </a:ln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200" u="none" strike="noStrike" cap="none" dirty="0">
                        <a:ln>
                          <a:solidFill>
                            <a:schemeClr val="bg1">
                              <a:lumMod val="50000"/>
                            </a:schemeClr>
                          </a:solidFill>
                        </a:ln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u="none" strike="noStrike" cap="none" dirty="0">
                          <a:ln>
                            <a:solidFill>
                              <a:schemeClr val="bg1">
                                <a:lumMod val="50000"/>
                              </a:schemeClr>
                            </a:solidFill>
                          </a:ln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200" u="none" strike="noStrike" cap="none" dirty="0">
                        <a:ln>
                          <a:solidFill>
                            <a:schemeClr val="bg1">
                              <a:lumMod val="50000"/>
                            </a:schemeClr>
                          </a:solidFill>
                        </a:ln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u="none" strike="noStrike" cap="none" dirty="0">
                          <a:ln>
                            <a:solidFill>
                              <a:schemeClr val="bg1">
                                <a:lumMod val="50000"/>
                              </a:schemeClr>
                            </a:solidFill>
                          </a:ln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200" u="none" strike="noStrike" cap="none" dirty="0">
                        <a:ln>
                          <a:solidFill>
                            <a:schemeClr val="bg1">
                              <a:lumMod val="50000"/>
                            </a:schemeClr>
                          </a:solidFill>
                        </a:ln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2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2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6643"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dirty="0"/>
                        <a:t>Desenvolvimento do modelo de Redes Neurais</a:t>
                      </a:r>
                      <a:endParaRPr sz="10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2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6643"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dirty="0"/>
                        <a:t>Treinamento e validação do modelo</a:t>
                      </a:r>
                      <a:endParaRPr sz="10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2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6643">
                <a:tc>
                  <a:txBody>
                    <a:bodyPr/>
                    <a:lstStyle/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dirty="0"/>
                        <a:t>Análise e interpretação dos resultados</a:t>
                      </a:r>
                      <a:endParaRPr sz="10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5310">
                <a:tc>
                  <a:txBody>
                    <a:bodyPr/>
                    <a:lstStyle/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dirty="0"/>
                        <a:t>Elaboração do relatório final </a:t>
                      </a:r>
                      <a:endParaRPr sz="10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6643"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dirty="0"/>
                        <a:t>Divulgação dos resultados e sugestões de intervenções </a:t>
                      </a:r>
                      <a:endParaRPr sz="10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2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224" name="Google Shape;224;p23" descr="Logotipo&#10;&#10;Descrição gerada automaticament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53782" y="4373297"/>
            <a:ext cx="614826" cy="614826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3"/>
          <p:cNvSpPr txBox="1">
            <a:spLocks noGrp="1"/>
          </p:cNvSpPr>
          <p:nvPr>
            <p:ph type="sldNum" idx="12"/>
          </p:nvPr>
        </p:nvSpPr>
        <p:spPr>
          <a:xfrm>
            <a:off x="7924800" y="4767264"/>
            <a:ext cx="428982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pt-BR" dirty="0"/>
              <a:t>13</a:t>
            </a:r>
            <a:endParaRPr dirty="0"/>
          </a:p>
        </p:txBody>
      </p:sp>
    </p:spTree>
  </p:cSld>
  <p:clrMapOvr>
    <a:masterClrMapping/>
  </p:clrMapOvr>
  <p:transition spd="slow">
    <p:push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4"/>
          <p:cNvSpPr/>
          <p:nvPr/>
        </p:nvSpPr>
        <p:spPr>
          <a:xfrm>
            <a:off x="-2" y="0"/>
            <a:ext cx="9144002" cy="766025"/>
          </a:xfrm>
          <a:prstGeom prst="rect">
            <a:avLst/>
          </a:prstGeom>
          <a:solidFill>
            <a:srgbClr val="00314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1" name="Google Shape;231;p24"/>
          <p:cNvCxnSpPr/>
          <p:nvPr/>
        </p:nvCxnSpPr>
        <p:spPr>
          <a:xfrm>
            <a:off x="251520" y="142858"/>
            <a:ext cx="0" cy="484676"/>
          </a:xfrm>
          <a:prstGeom prst="straightConnector1">
            <a:avLst/>
          </a:prstGeom>
          <a:noFill/>
          <a:ln w="38100" cap="flat" cmpd="sng">
            <a:solidFill>
              <a:srgbClr val="FFC00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</p:cxnSp>
      <p:sp>
        <p:nvSpPr>
          <p:cNvPr id="232" name="Google Shape;232;p24"/>
          <p:cNvSpPr/>
          <p:nvPr/>
        </p:nvSpPr>
        <p:spPr>
          <a:xfrm>
            <a:off x="8172400" y="464883"/>
            <a:ext cx="482208" cy="325301"/>
          </a:xfrm>
          <a:prstGeom prst="triangle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4"/>
          <p:cNvSpPr txBox="1"/>
          <p:nvPr/>
        </p:nvSpPr>
        <p:spPr>
          <a:xfrm>
            <a:off x="539552" y="0"/>
            <a:ext cx="8604448" cy="6995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Century Gothic"/>
              <a:buNone/>
            </a:pPr>
            <a:r>
              <a:rPr lang="pt-BR" sz="2500" b="1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Resultados Esperados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24"/>
          <p:cNvSpPr txBox="1">
            <a:spLocks noGrp="1"/>
          </p:cNvSpPr>
          <p:nvPr>
            <p:ph type="subTitle" idx="1"/>
          </p:nvPr>
        </p:nvSpPr>
        <p:spPr>
          <a:xfrm>
            <a:off x="413250" y="1919521"/>
            <a:ext cx="8317500" cy="17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</a:pPr>
            <a:r>
              <a:rPr lang="pt-BR" sz="2000" b="1" dirty="0">
                <a:solidFill>
                  <a:schemeClr val="tx1"/>
                </a:solidFill>
              </a:rPr>
              <a:t>Espera-se criar um modelo de inteligência artificial capaz de identificar gestantes com maior risco de abandonar o pré-natal, considerando fatores sociais. Com os dados do aplicativo, será possível reconhecer perfis vulneráveis, apoiar decisões de profissionais de saúde e propor estratégias para reduzir o abandono.</a:t>
            </a:r>
            <a:endParaRPr lang="pt-BR" sz="2000" b="1" i="0" u="none" strike="noStrike" cap="none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5" name="Google Shape;235;p24" descr="Logotipo&#10;&#10;Descrição gerada automaticament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53782" y="4373297"/>
            <a:ext cx="614826" cy="614826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24"/>
          <p:cNvSpPr txBox="1">
            <a:spLocks noGrp="1"/>
          </p:cNvSpPr>
          <p:nvPr>
            <p:ph type="sldNum" idx="12"/>
          </p:nvPr>
        </p:nvSpPr>
        <p:spPr>
          <a:xfrm>
            <a:off x="7924800" y="4767264"/>
            <a:ext cx="428982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pt-BR" dirty="0"/>
              <a:t>14</a:t>
            </a:r>
            <a:endParaRPr dirty="0"/>
          </a:p>
        </p:txBody>
      </p:sp>
    </p:spTree>
  </p:cSld>
  <p:clrMapOvr>
    <a:masterClrMapping/>
  </p:clrMapOvr>
  <p:transition spd="slow">
    <p:push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5"/>
          <p:cNvSpPr/>
          <p:nvPr/>
        </p:nvSpPr>
        <p:spPr>
          <a:xfrm>
            <a:off x="-2" y="0"/>
            <a:ext cx="9144002" cy="766025"/>
          </a:xfrm>
          <a:prstGeom prst="rect">
            <a:avLst/>
          </a:prstGeom>
          <a:solidFill>
            <a:srgbClr val="00314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2" name="Google Shape;242;p25"/>
          <p:cNvCxnSpPr/>
          <p:nvPr/>
        </p:nvCxnSpPr>
        <p:spPr>
          <a:xfrm>
            <a:off x="251520" y="142858"/>
            <a:ext cx="0" cy="484676"/>
          </a:xfrm>
          <a:prstGeom prst="straightConnector1">
            <a:avLst/>
          </a:prstGeom>
          <a:noFill/>
          <a:ln w="38100" cap="flat" cmpd="sng">
            <a:solidFill>
              <a:srgbClr val="FFC00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</p:cxnSp>
      <p:sp>
        <p:nvSpPr>
          <p:cNvPr id="243" name="Google Shape;243;p25"/>
          <p:cNvSpPr/>
          <p:nvPr/>
        </p:nvSpPr>
        <p:spPr>
          <a:xfrm>
            <a:off x="8172400" y="464883"/>
            <a:ext cx="482208" cy="325301"/>
          </a:xfrm>
          <a:prstGeom prst="triangle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25"/>
          <p:cNvSpPr txBox="1"/>
          <p:nvPr/>
        </p:nvSpPr>
        <p:spPr>
          <a:xfrm>
            <a:off x="539552" y="0"/>
            <a:ext cx="8604448" cy="6995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Century Gothic"/>
              <a:buNone/>
            </a:pPr>
            <a:r>
              <a:rPr lang="pt-BR" sz="2500" b="1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Referências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25"/>
          <p:cNvSpPr txBox="1"/>
          <p:nvPr/>
        </p:nvSpPr>
        <p:spPr>
          <a:xfrm>
            <a:off x="142844" y="943496"/>
            <a:ext cx="8858312" cy="31652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BRASIL. Ministério da Saúde. </a:t>
            </a:r>
            <a:r>
              <a:rPr lang="pt-B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Importância do Pré-Natal</a:t>
            </a:r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Brasília, DF: Ministério da Saúde, 2016. Disponível em: https://bvsms.saude.gov.br/</a:t>
            </a:r>
            <a:r>
              <a:rPr lang="pt-BR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importancia</a:t>
            </a:r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-do-</a:t>
            </a:r>
            <a:r>
              <a:rPr lang="pt-BR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</a:t>
            </a:r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-natal/.</a:t>
            </a:r>
          </a:p>
          <a:p>
            <a:pPr marL="0" marR="0" lvl="0" indent="0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BRASIL. Ministério da Saúde. </a:t>
            </a:r>
            <a:r>
              <a:rPr lang="pt-B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Pré-Nata</a:t>
            </a:r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l. Brasília, DF: Ministério da Saúde, 2024b. Disponível em: https://www.gov.br/</a:t>
            </a:r>
            <a:r>
              <a:rPr lang="pt-BR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saude</a:t>
            </a:r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/</a:t>
            </a:r>
            <a:r>
              <a:rPr lang="pt-BR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pt-br</a:t>
            </a:r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/assuntos/</a:t>
            </a:r>
            <a:r>
              <a:rPr lang="pt-BR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saude</a:t>
            </a:r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-de-a-a-z/g/gravidez/</a:t>
            </a:r>
            <a:r>
              <a:rPr lang="pt-BR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pre-natal</a:t>
            </a:r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</a:t>
            </a:r>
          </a:p>
          <a:p>
            <a:pPr algn="just">
              <a:spcBef>
                <a:spcPts val="1000"/>
              </a:spcBef>
              <a:buSzPts val="1600"/>
            </a:pPr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COSTA, C. A. et al. </a:t>
            </a:r>
            <a:r>
              <a:rPr lang="pt-B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Impacto dos Determinantes Sociais no Estado Nutricional e na Assistência Pré-Natal de Gestantes no Sistema Único de Saúde</a:t>
            </a:r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pt-BR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Brazilian</a:t>
            </a:r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Journal</a:t>
            </a:r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Implantology</a:t>
            </a:r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</a:t>
            </a:r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Health </a:t>
            </a:r>
            <a:r>
              <a:rPr lang="pt-BR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Sciences</a:t>
            </a:r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2021. Disponível em: https://bjihs.emnuvens.com.br/bjihs/article/view/3348</a:t>
            </a:r>
          </a:p>
          <a:p>
            <a:pPr marL="0" marR="0" lvl="0" indent="0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NASCIMENTO NETO, C.; BORGES, K.; PENINA, P.; PEREIRA, A. </a:t>
            </a:r>
            <a:r>
              <a:rPr lang="pt-B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Inteligência artificial e novas tecnologias em saúde: desafios e perspectivas</a:t>
            </a:r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pt-BR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Brazilian</a:t>
            </a:r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Journal</a:t>
            </a:r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Development</a:t>
            </a:r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v. 6, n. 2, p. 9431–9445, 2020. Disponível em: https://ojs.brazilianjournals.com.br/</a:t>
            </a:r>
            <a:r>
              <a:rPr lang="pt-BR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ojs</a:t>
            </a:r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/</a:t>
            </a:r>
            <a:r>
              <a:rPr lang="pt-BR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index.php</a:t>
            </a:r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/BRJD/</a:t>
            </a:r>
            <a:r>
              <a:rPr lang="pt-BR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article</a:t>
            </a:r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/</a:t>
            </a:r>
            <a:r>
              <a:rPr lang="pt-BR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view</a:t>
            </a:r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/7210/6282.</a:t>
            </a:r>
            <a:endParaRPr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pic>
        <p:nvPicPr>
          <p:cNvPr id="246" name="Google Shape;246;p25" descr="Logotipo&#10;&#10;Descrição gerada automaticament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53782" y="4373297"/>
            <a:ext cx="614826" cy="614826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25"/>
          <p:cNvSpPr txBox="1">
            <a:spLocks noGrp="1"/>
          </p:cNvSpPr>
          <p:nvPr>
            <p:ph type="sldNum" idx="12"/>
          </p:nvPr>
        </p:nvSpPr>
        <p:spPr>
          <a:xfrm>
            <a:off x="7924800" y="4767264"/>
            <a:ext cx="428982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pt-BR" dirty="0"/>
              <a:t>15</a:t>
            </a:r>
            <a:endParaRPr dirty="0"/>
          </a:p>
        </p:txBody>
      </p:sp>
    </p:spTree>
  </p:cSld>
  <p:clrMapOvr>
    <a:masterClrMapping/>
  </p:clrMapOvr>
  <p:transition spd="slow">
    <p:push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6"/>
          <p:cNvSpPr/>
          <p:nvPr/>
        </p:nvSpPr>
        <p:spPr>
          <a:xfrm>
            <a:off x="-2" y="0"/>
            <a:ext cx="9144002" cy="3966186"/>
          </a:xfrm>
          <a:prstGeom prst="rect">
            <a:avLst/>
          </a:prstGeom>
          <a:solidFill>
            <a:srgbClr val="00314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54" name="Google Shape;254;p26"/>
          <p:cNvSpPr/>
          <p:nvPr/>
        </p:nvSpPr>
        <p:spPr>
          <a:xfrm>
            <a:off x="2070100" y="3686609"/>
            <a:ext cx="482208" cy="325301"/>
          </a:xfrm>
          <a:prstGeom prst="triangle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5" name="Google Shape;255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41419" y="283121"/>
            <a:ext cx="3358573" cy="3152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p2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" y="259268"/>
            <a:ext cx="4000495" cy="488423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Agrupar 1">
            <a:extLst>
              <a:ext uri="{FF2B5EF4-FFF2-40B4-BE49-F238E27FC236}">
                <a16:creationId xmlns:a16="http://schemas.microsoft.com/office/drawing/2014/main" id="{A6224B7F-697A-D41C-7969-16D895631A7A}"/>
              </a:ext>
            </a:extLst>
          </p:cNvPr>
          <p:cNvGrpSpPr/>
          <p:nvPr/>
        </p:nvGrpSpPr>
        <p:grpSpPr>
          <a:xfrm>
            <a:off x="4571175" y="2271711"/>
            <a:ext cx="4311000" cy="600078"/>
            <a:chOff x="4571175" y="2571586"/>
            <a:chExt cx="4311000" cy="600078"/>
          </a:xfrm>
        </p:grpSpPr>
        <p:sp>
          <p:nvSpPr>
            <p:cNvPr id="257" name="Google Shape;257;p26"/>
            <p:cNvSpPr txBox="1"/>
            <p:nvPr/>
          </p:nvSpPr>
          <p:spPr>
            <a:xfrm>
              <a:off x="4571175" y="2571586"/>
              <a:ext cx="4311000" cy="39542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pt-BR" sz="1800" b="1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ANTÔNIO HARLITON MARTINS DE SOUZA</a:t>
              </a:r>
              <a:endParaRPr sz="18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8" name="Google Shape;258;p26"/>
            <p:cNvSpPr txBox="1"/>
            <p:nvPr/>
          </p:nvSpPr>
          <p:spPr>
            <a:xfrm>
              <a:off x="4571175" y="2832765"/>
              <a:ext cx="4260300" cy="3388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rPr lang="pt-BR" sz="1800" dirty="0">
                  <a:solidFill>
                    <a:srgbClr val="FFC000"/>
                  </a:solidFill>
                  <a:latin typeface="Calibri"/>
                  <a:ea typeface="Calibri"/>
                  <a:cs typeface="Calibri"/>
                  <a:sym typeface="Calibri"/>
                </a:rPr>
                <a:t>2022000628@ifam.edu.br</a:t>
              </a:r>
              <a:endParaRPr sz="1800" b="0" i="0" u="none" strike="noStrike" cap="none" dirty="0">
                <a:solidFill>
                  <a:srgbClr val="FFC00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endParaRPr sz="1800" dirty="0">
                <a:solidFill>
                  <a:srgbClr val="FFC00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endParaRPr sz="1800" dirty="0">
                <a:solidFill>
                  <a:srgbClr val="FFC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59" name="Google Shape;259;p2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860032" y="1187586"/>
            <a:ext cx="3810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26"/>
          <p:cNvSpPr txBox="1"/>
          <p:nvPr/>
        </p:nvSpPr>
        <p:spPr>
          <a:xfrm>
            <a:off x="1374373" y="4434666"/>
            <a:ext cx="1901483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BR" sz="1600" b="0" i="0" u="none" strike="noStrike" cap="non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www.ifam.edu.br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1" name="Google Shape;261;p26" descr="Logotipo&#10;&#10;Descrição gerada automaticamente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963234" y="4164304"/>
            <a:ext cx="868216" cy="868216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26" descr="Placa com letras pretas&#10;&#10;Descrição gerada automaticamente com confiança média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373690" y="4234324"/>
            <a:ext cx="2366308" cy="6545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>
</file>

<file path=ppt/theme/theme1.xml><?xml version="1.0" encoding="utf-8"?>
<a:theme xmlns:a="http://schemas.openxmlformats.org/drawingml/2006/main" name="Tema do Office">
  <a:themeElements>
    <a:clrScheme name="Escritório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Escritório">
    <a:dk1>
      <a:srgbClr val="000000"/>
    </a:dk1>
    <a:lt1>
      <a:srgbClr val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1793</TotalTime>
  <Words>1252</Words>
  <Application>Microsoft Office PowerPoint</Application>
  <PresentationFormat>Apresentação na tela (16:9)</PresentationFormat>
  <Paragraphs>213</Paragraphs>
  <Slides>18</Slides>
  <Notes>18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18</vt:i4>
      </vt:variant>
    </vt:vector>
  </HeadingPairs>
  <TitlesOfParts>
    <vt:vector size="23" baseType="lpstr">
      <vt:lpstr>Courier New</vt:lpstr>
      <vt:lpstr>Arial</vt:lpstr>
      <vt:lpstr>Calibri</vt:lpstr>
      <vt:lpstr>Century Gothic</vt:lpstr>
      <vt:lpstr>Tema do Office</vt:lpstr>
      <vt:lpstr>ANTÔNIO HÁRLITON MARTINS DE SOUZA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Hárliton Martins</dc:creator>
  <cp:lastModifiedBy>Hárliton Martins</cp:lastModifiedBy>
  <cp:revision>113</cp:revision>
  <dcterms:modified xsi:type="dcterms:W3CDTF">2025-07-15T02:46:01Z</dcterms:modified>
</cp:coreProperties>
</file>