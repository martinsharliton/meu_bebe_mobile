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69" r:id="rId19"/>
    <p:sldId id="299" r:id="rId50"/>
    <p:sldId id="300" r:id="rId51"/>
    <p:sldId id="301" r:id="rId52"/>
    <p:sldId id="302" r:id="rId53"/>
    <p:sldId id="303" r:id="rId54"/>
    <p:sldId id="304" r:id="rId55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811E5BC-DF20-499A-A17A-B5CD9756F5C1}">
  <a:tblStyle styleId="{E811E5BC-DF20-499A-A17A-B5CD9756F5C1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font" Target="fonts/font4.fntdata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Capa — cumprimentar a banca, anunciar o título e o orientador. Tempo ~0:10.</a:t>
            </a:r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Percurso da apresentação — 10 blocos. Tempo ~0:15. Indicar que a demonstração acontece após os resultados.</a:t>
            </a:r>
          </a:p>
        </p:txBody>
      </p:sp>
      <p:sp>
        <p:nvSpPr>
          <p:cNvPr id="105" name="Google Shape;10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598912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Encerramento — agradecer a banca e abrir para perguntas. Tempo ~0:10.</a:t>
            </a:r>
          </a:p>
        </p:txBody>
      </p:sp>
      <p:sp>
        <p:nvSpPr>
          <p:cNvPr id="251" name="Google Shape;25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situar a banca no contexto do pré-natal. Tempo ~0:45. Falar que a continuidade do acompanhamento é decisiva para os desfechos. Transição: 'mas essa continuidade nem sempre acontece'.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apresentar o problema. Tempo ~1:00. Enfatizar que o fenômeno tem raízes sociais, não apenas individuais. Transição: 'por isso é importante olhar para os Determinantes Sociais da Saúde'.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justificar o trabalho. Tempo ~0:45. Destacar o diferencial: unir questionário DSS + estimativa + acompanhamento no mesmo app. Transição: 'isso define a pergunta e o objetivo'.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fixar pergunta e objetivo. Tempo ~0:50. Ler a pergunta com clareza (é o fio condutor). Ressaltar o caráter experimental e sintético. Transição: 'para isso, partimos de um referencial'.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apresentar os DSS. Tempo ~0:50. As seis dimensões do questionário (educação, trabalho e renda, saneamento, acesso à saúde, habitação, alimentação) derivam deste modelo em camadas. Transição: 'a partir disso, estruturamos a solução'.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visão geral da solução (app + API + ML). Tempo ~0:50. Três partes: aplicativo móvel, servidor/API e pacote de aprendizado de máquina. Transição: 'a porta de entrada é o questionário dos DSS'.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mostrar o questionário. Tempo ~0:45. Formulário estruturado, sem texto livre; 48 variáveis em seis dimensões. Transição: 'essas respostas alimentam o IV-DSS'.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explicar o IV-DSS. Tempo ~1:10. Índice descritivo experimental (0–1); média de seis dimensões com pesos iguais. Caracteriza a vulnerabilidade social; NÃO é a estimativa do modelo nem diagnóstico. Transição: 'o experimento usa dados sintéticos'.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justificar os dados sintéticos. Tempo ~1:10. 5.000 registros, gerados de forma reproduzível (semente fixa), ~25% de desfecho positivo. Gerador probabilístico com dependências controladas. Nenhum dado pessoal real. Transição: 'sobre esses dados, treinamos os modelos'.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apresentar o RF. Tempo ~0:50. É o modelo que estima a propensão (probabilidade). Transição: 'em paralelo, aplicamos uma análise exploratória com SOM'.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explicar o SOM. Tempo ~0:50. Mapa auto-organizável agrupa registros com perfis de DSS semelhantes. Análise exploratória, complementar ao modelo supervisionado; não alimenta o RF. Transição: 'o fluxo experimental integra essas etapas'.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mostrar o fluxo experimental. Tempo ~0:40. 80% treino / 20% teste estratificado; validação cruzada 5-fold com dobras congeladas; pré-processamento aprendido só no treino (sem vazamento); teste usado uma única vez. Transição: 'os resultados do RF vêm a seguir'.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resultado da seleção de modelo. Tempo ~0:50. PR-AUC médio (validação cruzada): regressão logística 0,3370; XGBoost 0,3346; Random Forest 0,3508 — o maior, por isso foi selecionado. Transição: 'avaliando no conjunto de teste separado'.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resultado honesto do hold-out. Tempo ~1:10. Enfatizar que o desempenho é limitado e que o app não rotula 'risco'. Transição: 'o SOM traz uma leitura complementar'.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resultado do SOM. Tempo ~0:50. Dois grupos com perfis sociais distintos (trabalho/renda, educação, acesso), mas proporção de desfecho semelhante. O agrupamento descreve perfil social; não prevê o desfecho. Transição: 'essas análises estão integradas ao aplicativo'.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mostrar o acompanhamento. Tempo ~0:50. Além do questionário, o app apoia o acompanhamento: gestação, consultas, exames, vacinas, medicamentos, plano de parto e histórico de avaliações. Transição: 'como essas partes conversam entre si'.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mostrar a integração. Tempo ~0:50. Sem detalhes de implementação (endpoints/nomes internos). Transição: 'vamos ver isso funcionando'.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INÍCIO DA DEMONSTRAÇÃO (~5:00). Dados 100% fictícios. Seguir o Plano_Demonstracao_App.docx. Ao final, destacar o diferencial da integração. FIM DA DEMONSTRAÇÃO.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ser transparente sobre limites. Tempo ~1:10. Evitar qualquer exagero científico. Transição: 'a contribuição do trabalho é metodológica e de integração'.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contribuições e futuro. Tempo ~0:50. Transição: 'concluindo'.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concluir. Tempo ~0:30. Fechar com humildade científica e abrir para perguntas. Transição: 'fico à disposição para as perguntas da banca'.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Apoio A1 – métricas detalhadas: Brier ≈ 0,179 (baseline ≈ 0,185); desvio entre dobras (Brier ≈ 0,002; ROC ≈ 0,017; PR ≈ 0,025); sensibilidade 34×36 variáveis sem mudança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Apoio A2 – comparação conceitual entre IV-DSS, Random Forest e SOM.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Apoio A3 – arquitetura/persistência: PostgreSQL, sete migrações versionadas; domínio completo (gestante, gestação, histórico obstétrico, consultas, exames, medicamentos, vacinas, plano de parto, avaliações DSS).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Apoio A4 – dados sintéticos: cobertura do IV-DSS; fatores latentes, relação sigmoide e amostragem Bernoulli com não-determinismo controlado.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Apoio A5 – caminho para validação com dados reais e requisitos éticos.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Apoio A6 – sequência completa das telas do aplicativo.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2" y="1076327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5463778" y="1371602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8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jp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3.jpg"/><Relationship Id="rId7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jp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jp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jpg"/><Relationship Id="rId5" Type="http://schemas.openxmlformats.org/officeDocument/2006/relationships/image" Target="../media/image15.png"/><Relationship Id="rId6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jpg"/><Relationship Id="rId5" Type="http://schemas.openxmlformats.org/officeDocument/2006/relationships/image" Target="../media/image17.png"/><Relationship Id="rId6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jpg"/><Relationship Id="rId5" Type="http://schemas.openxmlformats.org/officeDocument/2006/relationships/image" Target="../media/image18.png"/><Relationship Id="rId6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jpg"/><Relationship Id="rId5" Type="http://schemas.openxmlformats.org/officeDocument/2006/relationships/image" Target="../media/image19.png"/><Relationship Id="rId6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jpg"/><Relationship Id="rId5" Type="http://schemas.openxmlformats.org/officeDocument/2006/relationships/image" Target="../media/image20.png"/><Relationship Id="rId6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jpg"/><Relationship Id="rId5" Type="http://schemas.openxmlformats.org/officeDocument/2006/relationships/image" Target="../media/image22.png"/><Relationship Id="rId6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-2" y="0"/>
            <a:ext cx="9144002" cy="3000378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 rot="10800000" flipH="1">
            <a:off x="2055575" y="2857626"/>
            <a:ext cx="7088400" cy="7857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>
            <a:spLocks noGrp="1"/>
          </p:cNvSpPr>
          <p:nvPr>
            <p:ph type="ctrTitle"/>
          </p:nvPr>
        </p:nvSpPr>
        <p:spPr>
          <a:xfrm>
            <a:off x="2049670" y="199177"/>
            <a:ext cx="7094331" cy="729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 b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ANTÔNIO HÁRLITON MARTINS DE SOUZA</a:t>
            </a:r>
            <a:endParaRPr sz="1500" b="1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2499728" y="1178446"/>
            <a:ext cx="66087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 b="1" dirty="0">
                <a:solidFill>
                  <a:srgbClr val="FFC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ESTIMATIVA DA PROPENSÃO À DESCONTINUIDADE DO ACOMPANHAMENTO PRÉ-NATAL A PARTIR DOS DETERMINANTES SOCIAIS DA SAÚDE:</a:t>
            </a:r>
          </a:p>
        </p:txBody>
      </p:sp>
      <p:sp>
        <p:nvSpPr>
          <p:cNvPr id="93" name="Google Shape;93;p13"/>
          <p:cNvSpPr txBox="1"/>
          <p:nvPr/>
        </p:nvSpPr>
        <p:spPr>
          <a:xfrm>
            <a:off x="2963821" y="3740346"/>
            <a:ext cx="5085153" cy="71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entury Gothic"/>
              <a:buNone/>
            </a:pPr>
            <a:r>
              <a:rPr lang="pt-BR" sz="1500" b="1" i="0" u="none" strike="noStrike" cap="none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Orientador: Prof. Mestre Benevaldo Pereira Gonçalves</a:t>
            </a:r>
            <a:endParaRPr sz="1500" b="0" i="0" u="none" strike="noStrike" cap="none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2060732" y="2893315"/>
            <a:ext cx="70722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 b="1" dirty="0">
                <a:solidFill>
                  <a:srgbClr val="00314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UMA ABORDAGEM COM APRENDIZADO DE MÁQUINA E UM ÍNDICE DE VULNERABILIDADE</a:t>
            </a:r>
          </a:p>
        </p:txBody>
      </p:sp>
      <p:sp>
        <p:nvSpPr>
          <p:cNvPr id="95" name="Google Shape;95;p13"/>
          <p:cNvSpPr/>
          <p:nvPr/>
        </p:nvSpPr>
        <p:spPr>
          <a:xfrm>
            <a:off x="2317362" y="2571751"/>
            <a:ext cx="482100" cy="397200"/>
          </a:xfrm>
          <a:prstGeom prst="triangle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3"/>
          <p:cNvPicPr preferRelativeResize="0"/>
          <p:nvPr/>
        </p:nvPicPr>
        <p:blipFill rotWithShape="1">
          <a:blip r:embed="rId3">
            <a:alphaModFix/>
          </a:blip>
          <a:srcRect r="72869"/>
          <a:stretch/>
        </p:blipFill>
        <p:spPr>
          <a:xfrm>
            <a:off x="1141419" y="283121"/>
            <a:ext cx="911201" cy="315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/>
          <p:cNvPicPr preferRelativeResize="0"/>
          <p:nvPr/>
        </p:nvPicPr>
        <p:blipFill rotWithShape="1">
          <a:blip r:embed="rId4">
            <a:alphaModFix/>
          </a:blip>
          <a:srcRect r="48691"/>
          <a:stretch/>
        </p:blipFill>
        <p:spPr>
          <a:xfrm>
            <a:off x="1" y="259268"/>
            <a:ext cx="2052619" cy="48842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" name="Google Shape;98;p13"/>
          <p:cNvCxnSpPr/>
          <p:nvPr/>
        </p:nvCxnSpPr>
        <p:spPr>
          <a:xfrm>
            <a:off x="2052620" y="123478"/>
            <a:ext cx="0" cy="3672408"/>
          </a:xfrm>
          <a:prstGeom prst="straightConnector1">
            <a:avLst/>
          </a:prstGeom>
          <a:noFill/>
          <a:ln w="19050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9" name="Google Shape;99;p13"/>
          <p:cNvSpPr txBox="1"/>
          <p:nvPr/>
        </p:nvSpPr>
        <p:spPr>
          <a:xfrm>
            <a:off x="1374373" y="4434666"/>
            <a:ext cx="190148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www.ifam.edu.br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13" descr="Logotipo&#10;&#10;Descrição gerada automaticament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63234" y="4164304"/>
            <a:ext cx="868216" cy="868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3" descr="Placa com letras pretas&#10;&#10;Descrição gerada automaticamente com confiança média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73690" y="4234324"/>
            <a:ext cx="2366308" cy="654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111;p14">
            <a:extLst>
              <a:ext uri="{FF2B5EF4-FFF2-40B4-BE49-F238E27FC236}">
                <a16:creationId xmlns:a16="http://schemas.microsoft.com/office/drawing/2014/main" id="{878CFC55-30CF-B580-D770-7C34FF7F2167}"/>
              </a:ext>
            </a:extLst>
          </p:cNvPr>
          <p:cNvSpPr/>
          <p:nvPr/>
        </p:nvSpPr>
        <p:spPr>
          <a:xfrm rot="10800000" flipH="1">
            <a:off x="2046074" y="1282615"/>
            <a:ext cx="1443624" cy="3571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11;p14">
            <a:extLst>
              <a:ext uri="{FF2B5EF4-FFF2-40B4-BE49-F238E27FC236}">
                <a16:creationId xmlns:a16="http://schemas.microsoft.com/office/drawing/2014/main" id="{A7A8FBE0-887C-8D37-338A-B365B8BECC11}"/>
              </a:ext>
            </a:extLst>
          </p:cNvPr>
          <p:cNvSpPr/>
          <p:nvPr/>
        </p:nvSpPr>
        <p:spPr>
          <a:xfrm rot="10800000" flipH="1">
            <a:off x="2050438" y="1739545"/>
            <a:ext cx="1443624" cy="3571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111;p14">
            <a:extLst>
              <a:ext uri="{FF2B5EF4-FFF2-40B4-BE49-F238E27FC236}">
                <a16:creationId xmlns:a16="http://schemas.microsoft.com/office/drawing/2014/main" id="{E419DEA8-1C15-33EA-8164-EA269FEE45EE}"/>
              </a:ext>
            </a:extLst>
          </p:cNvPr>
          <p:cNvSpPr/>
          <p:nvPr/>
        </p:nvSpPr>
        <p:spPr>
          <a:xfrm rot="10800000" flipH="1">
            <a:off x="2050438" y="2195423"/>
            <a:ext cx="1443624" cy="3571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111;p14">
            <a:extLst>
              <a:ext uri="{FF2B5EF4-FFF2-40B4-BE49-F238E27FC236}">
                <a16:creationId xmlns:a16="http://schemas.microsoft.com/office/drawing/2014/main" id="{920B06D6-4489-4750-191C-AC4306C50539}"/>
              </a:ext>
            </a:extLst>
          </p:cNvPr>
          <p:cNvSpPr/>
          <p:nvPr/>
        </p:nvSpPr>
        <p:spPr>
          <a:xfrm rot="10800000" flipH="1">
            <a:off x="2054802" y="2652353"/>
            <a:ext cx="1443624" cy="3571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111;p14">
            <a:extLst>
              <a:ext uri="{FF2B5EF4-FFF2-40B4-BE49-F238E27FC236}">
                <a16:creationId xmlns:a16="http://schemas.microsoft.com/office/drawing/2014/main" id="{1D1F334E-5CA7-D272-BE4B-178CBBB7A26D}"/>
              </a:ext>
            </a:extLst>
          </p:cNvPr>
          <p:cNvSpPr/>
          <p:nvPr/>
        </p:nvSpPr>
        <p:spPr>
          <a:xfrm rot="10800000" flipH="1">
            <a:off x="2048256" y="3116159"/>
            <a:ext cx="1443624" cy="3571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111;p14">
            <a:extLst>
              <a:ext uri="{FF2B5EF4-FFF2-40B4-BE49-F238E27FC236}">
                <a16:creationId xmlns:a16="http://schemas.microsoft.com/office/drawing/2014/main" id="{908D6273-4194-CE72-F431-BE817D770E60}"/>
              </a:ext>
            </a:extLst>
          </p:cNvPr>
          <p:cNvSpPr/>
          <p:nvPr/>
        </p:nvSpPr>
        <p:spPr>
          <a:xfrm rot="10800000" flipH="1">
            <a:off x="2052620" y="3573089"/>
            <a:ext cx="1443624" cy="3571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111;p14">
            <a:extLst>
              <a:ext uri="{FF2B5EF4-FFF2-40B4-BE49-F238E27FC236}">
                <a16:creationId xmlns:a16="http://schemas.microsoft.com/office/drawing/2014/main" id="{3AF24F9E-F507-231B-D49E-2A73FA59D88C}"/>
              </a:ext>
            </a:extLst>
          </p:cNvPr>
          <p:cNvSpPr/>
          <p:nvPr/>
        </p:nvSpPr>
        <p:spPr>
          <a:xfrm rot="10800000" flipH="1">
            <a:off x="2041710" y="4012964"/>
            <a:ext cx="1443624" cy="3571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111;p14">
            <a:extLst>
              <a:ext uri="{FF2B5EF4-FFF2-40B4-BE49-F238E27FC236}">
                <a16:creationId xmlns:a16="http://schemas.microsoft.com/office/drawing/2014/main" id="{EDF97CC5-A637-8DE8-D948-DC8A7E08AC2F}"/>
              </a:ext>
            </a:extLst>
          </p:cNvPr>
          <p:cNvSpPr/>
          <p:nvPr/>
        </p:nvSpPr>
        <p:spPr>
          <a:xfrm rot="10800000" flipH="1">
            <a:off x="2046074" y="4469894"/>
            <a:ext cx="1443624" cy="3571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11;p14">
            <a:hlinkClick r:id="rId3" action="ppaction://hlinksldjump"/>
            <a:extLst>
              <a:ext uri="{FF2B5EF4-FFF2-40B4-BE49-F238E27FC236}">
                <a16:creationId xmlns:a16="http://schemas.microsoft.com/office/drawing/2014/main" id="{C37A0DF4-CC81-A3A9-4D84-6F3225237274}"/>
              </a:ext>
            </a:extLst>
          </p:cNvPr>
          <p:cNvSpPr/>
          <p:nvPr/>
        </p:nvSpPr>
        <p:spPr>
          <a:xfrm rot="10800000" flipH="1">
            <a:off x="2048256" y="361879"/>
            <a:ext cx="1443624" cy="3571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11;p14">
            <a:hlinkClick r:id="rId4" action="ppaction://hlinksldjump"/>
            <a:extLst>
              <a:ext uri="{FF2B5EF4-FFF2-40B4-BE49-F238E27FC236}">
                <a16:creationId xmlns:a16="http://schemas.microsoft.com/office/drawing/2014/main" id="{F38E159B-C6CF-A61B-1D3B-E757C329535A}"/>
              </a:ext>
            </a:extLst>
          </p:cNvPr>
          <p:cNvSpPr/>
          <p:nvPr/>
        </p:nvSpPr>
        <p:spPr>
          <a:xfrm rot="10800000" flipH="1">
            <a:off x="2052620" y="818809"/>
            <a:ext cx="1443624" cy="3571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-2" y="0"/>
            <a:ext cx="2048258" cy="3000378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2999534" y="572330"/>
            <a:ext cx="5072098" cy="410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25"/>
              <a:buFont typeface="Calibri"/>
              <a:buAutoNum type="arabicPeriod"/>
            </a:pPr>
            <a:r>
              <a:t>Introdução e contexto</a:t>
            </a:r>
          </a:p>
          <a:p>
            <a:r>
              <a:t>Problema e justificativa</a:t>
            </a:r>
          </a:p>
          <a:p>
            <a:r>
              <a:t>Objetivos</a:t>
            </a:r>
          </a:p>
          <a:p>
            <a:r>
              <a:t>Fundamentação: DSS e IV-DSS</a:t>
            </a:r>
          </a:p>
          <a:p>
            <a:r>
              <a:t>Metodologia: dados e modelos</a:t>
            </a:r>
          </a:p>
          <a:p>
            <a:r>
              <a:t>Solução desenvolvida</a:t>
            </a:r>
          </a:p>
          <a:p>
            <a:r>
              <a:t>Resultados do experimento</a:t>
            </a:r>
          </a:p>
          <a:p>
            <a:r>
              <a:t>Demonstração do aplicativo</a:t>
            </a:r>
          </a:p>
          <a:p>
            <a:r>
              <a:t>Limitações e contribuições</a:t>
            </a:r>
          </a:p>
          <a:p>
            <a:r>
              <a:t>Conclusão e perguntas</a:t>
            </a:r>
          </a:p>
        </p:txBody>
      </p:sp>
      <p:pic>
        <p:nvPicPr>
          <p:cNvPr id="118" name="Google Shape;118;p14"/>
          <p:cNvPicPr preferRelativeResize="0"/>
          <p:nvPr/>
        </p:nvPicPr>
        <p:blipFill rotWithShape="1">
          <a:blip r:embed="rId5">
            <a:alphaModFix/>
          </a:blip>
          <a:srcRect r="72869"/>
          <a:stretch/>
        </p:blipFill>
        <p:spPr>
          <a:xfrm>
            <a:off x="1141419" y="283121"/>
            <a:ext cx="911201" cy="315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/>
          <p:cNvPicPr preferRelativeResize="0"/>
          <p:nvPr/>
        </p:nvPicPr>
        <p:blipFill rotWithShape="1">
          <a:blip r:embed="rId6">
            <a:alphaModFix/>
          </a:blip>
          <a:srcRect r="48691"/>
          <a:stretch/>
        </p:blipFill>
        <p:spPr>
          <a:xfrm>
            <a:off x="1" y="259268"/>
            <a:ext cx="2052619" cy="48842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p14"/>
          <p:cNvCxnSpPr>
            <a:cxnSpLocks/>
          </p:cNvCxnSpPr>
          <p:nvPr/>
        </p:nvCxnSpPr>
        <p:spPr>
          <a:xfrm flipH="1">
            <a:off x="2044983" y="0"/>
            <a:ext cx="7637" cy="4827084"/>
          </a:xfrm>
          <a:prstGeom prst="straightConnector1">
            <a:avLst/>
          </a:prstGeom>
          <a:noFill/>
          <a:ln w="19050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1" name="Google Shape;121;p14" descr="Logotipo&#10;&#10;Descrição gerada automaticament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5" descr="Logotip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>
            <a:spLocks noGrp="1"/>
          </p:cNvSpPr>
          <p:nvPr>
            <p:ph type="subTitle" idx="1"/>
          </p:nvPr>
        </p:nvSpPr>
        <p:spPr>
          <a:xfrm>
            <a:off x="1263831" y="1021433"/>
            <a:ext cx="6616338" cy="3563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Pré-natal como estratégia de saúde pública</a:t>
            </a:r>
          </a:p>
          <a:p>
            <a:pPr marL="768350" lvl="1" indent="-285750" algn="just"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O acompanhamento pré-natal é essencial para prevenir complicações na gestação e garantir saúde materno-infantil.</a:t>
            </a:r>
          </a:p>
          <a:p>
            <a:pPr marL="482600" lvl="1" indent="0" algn="just">
              <a:buClr>
                <a:schemeClr val="tx1"/>
              </a:buClr>
              <a:buSzPct val="100000"/>
            </a:pPr>
            <a:endParaRPr lang="pt-BR" sz="1600" b="1" dirty="0">
              <a:solidFill>
                <a:schemeClr val="tx1"/>
              </a:solidFill>
            </a:endParaRPr>
          </a:p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Desigualdade social interfere no acesso ao pré-natal</a:t>
            </a:r>
          </a:p>
          <a:p>
            <a:pPr marL="768350" lvl="1" indent="-285750" algn="just"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Gravidez marcadas por obstáculos como distância, falta de apoio e baixa renda.</a:t>
            </a:r>
          </a:p>
          <a:p>
            <a:pPr marL="482600" lvl="1" indent="0" algn="just">
              <a:buClr>
                <a:schemeClr val="tx1"/>
              </a:buClr>
              <a:buSzPct val="100000"/>
            </a:pPr>
            <a:endParaRPr lang="pt-BR" sz="1600" b="1" dirty="0">
              <a:solidFill>
                <a:schemeClr val="tx1"/>
              </a:solidFill>
            </a:endParaRPr>
          </a:p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IA para antecipar riscos e ampliar o cuidado</a:t>
            </a:r>
          </a:p>
          <a:p>
            <a:pPr marL="768350" lvl="1" indent="-285750" algn="just"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O uso de inteligência artificial permite prever situações de abandono e fortalecer a atenção a quem mais precisa.</a:t>
            </a:r>
          </a:p>
        </p:txBody>
      </p:sp>
      <p:sp>
        <p:nvSpPr>
          <p:cNvPr id="129" name="Google Shape;129;p15"/>
          <p:cNvSpPr txBox="1"/>
          <p:nvPr/>
        </p:nvSpPr>
        <p:spPr>
          <a:xfrm>
            <a:off x="539552" y="-1"/>
            <a:ext cx="8604448" cy="76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15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131" name="Google Shape;131;p15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1</a:t>
            </a:r>
            <a:endParaRPr dirty="0"/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5" descr="Logotip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>
            <a:spLocks noGrp="1"/>
          </p:cNvSpPr>
          <p:nvPr>
            <p:ph type="subTitle" idx="1"/>
          </p:nvPr>
        </p:nvSpPr>
        <p:spPr>
          <a:xfrm>
            <a:off x="1263831" y="1449976"/>
            <a:ext cx="6616338" cy="319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Alta taxa de abandono em contextos críticos</a:t>
            </a:r>
          </a:p>
          <a:p>
            <a:pPr lvl="1" algn="just"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Muitas gestantes não conseguem manter o pré-natal por razões além da escolha individual.</a:t>
            </a:r>
          </a:p>
          <a:p>
            <a:pPr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pt-BR" sz="1600" b="1" dirty="0">
              <a:solidFill>
                <a:schemeClr val="tx1"/>
              </a:solidFill>
            </a:endParaRPr>
          </a:p>
          <a:p>
            <a:pPr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Fatores sociais atuam em conjunto e dificultam a adesão</a:t>
            </a:r>
          </a:p>
          <a:p>
            <a:pPr lvl="1" algn="just"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Determinantes Sociais de Saúde agem de forma interligada.</a:t>
            </a:r>
          </a:p>
          <a:p>
            <a:pPr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pt-BR" sz="1600" b="1" dirty="0">
              <a:solidFill>
                <a:schemeClr val="tx1"/>
              </a:solidFill>
            </a:endParaRPr>
          </a:p>
          <a:p>
            <a:pPr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Falta de métodos eficazes para identificar os perfis mais afetados</a:t>
            </a:r>
          </a:p>
          <a:p>
            <a:pPr lvl="1" algn="just"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Análises tradicionais não captam a complexidade dos contextos, dificultando políticas realmente eficazes.</a:t>
            </a:r>
          </a:p>
        </p:txBody>
      </p:sp>
      <p:sp>
        <p:nvSpPr>
          <p:cNvPr id="129" name="Google Shape;129;p15"/>
          <p:cNvSpPr txBox="1"/>
          <p:nvPr/>
        </p:nvSpPr>
        <p:spPr>
          <a:xfrm>
            <a:off x="539552" y="-1"/>
            <a:ext cx="8604448" cy="76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dirty="0">
                <a:solidFill>
                  <a:schemeClr val="lt1"/>
                </a:solidFill>
                <a:latin typeface="Century Gothic"/>
                <a:sym typeface="Century Gothic"/>
              </a:rPr>
              <a:t>Problematização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15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131" name="Google Shape;131;p15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9006290"/>
      </p:ext>
    </p:extLst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6"/>
          <p:cNvSpPr/>
          <p:nvPr/>
        </p:nvSpPr>
        <p:spPr>
          <a:xfrm>
            <a:off x="-2" y="0"/>
            <a:ext cx="9144002" cy="3966186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4" name="Google Shape;254;p26"/>
          <p:cNvSpPr/>
          <p:nvPr/>
        </p:nvSpPr>
        <p:spPr>
          <a:xfrm>
            <a:off x="2070100" y="3686609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1419" y="283121"/>
            <a:ext cx="3358573" cy="315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" y="259268"/>
            <a:ext cx="4000495" cy="48842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A6224B7F-697A-D41C-7969-16D895631A7A}"/>
              </a:ext>
            </a:extLst>
          </p:cNvPr>
          <p:cNvGrpSpPr/>
          <p:nvPr/>
        </p:nvGrpSpPr>
        <p:grpSpPr>
          <a:xfrm>
            <a:off x="4571175" y="2271711"/>
            <a:ext cx="4311000" cy="1005840"/>
            <a:chOff x="4571175" y="2571586"/>
            <a:chExt cx="4311000" cy="600078"/>
          </a:xfrm>
        </p:grpSpPr>
        <p:sp>
          <p:nvSpPr>
            <p:cNvPr id="257" name="Google Shape;257;p26"/>
            <p:cNvSpPr txBox="1"/>
            <p:nvPr/>
          </p:nvSpPr>
          <p:spPr>
            <a:xfrm>
              <a:off x="4571175" y="2569464"/>
              <a:ext cx="4311000" cy="3108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pt-BR" sz="1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ANTÔNIO HÁRLITON MARTINS DE SOUZA</a:t>
              </a:r>
              <a:endParaRPr sz="1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26"/>
            <p:cNvSpPr txBox="1"/>
            <p:nvPr/>
          </p:nvSpPr>
          <p:spPr>
            <a:xfrm>
              <a:off x="4571175" y="2926080"/>
              <a:ext cx="42603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lang="pt-BR" sz="1800" dirty="0">
                  <a:solidFill>
                    <a:srgbClr val="FFC000"/>
                  </a:solidFill>
                  <a:latin typeface="Calibri"/>
                  <a:ea typeface="Calibri"/>
                  <a:cs typeface="Calibri"/>
                  <a:sym typeface="Calibri"/>
                </a:rPr>
                <a:t>2022000628@ifam.edu.br</a:t>
              </a:r>
              <a:endParaRPr sz="1800" b="0" i="0" u="none" strike="noStrike" cap="none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endParaRPr sz="1800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endParaRPr sz="1800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59" name="Google Shape;259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60032" y="1187586"/>
            <a:ext cx="3810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6"/>
          <p:cNvSpPr txBox="1"/>
          <p:nvPr/>
        </p:nvSpPr>
        <p:spPr>
          <a:xfrm>
            <a:off x="1374373" y="4434666"/>
            <a:ext cx="190148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www.ifam.edu.br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p26" descr="Logotipo&#10;&#10;Descrição gerada automaticament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63234" y="4164304"/>
            <a:ext cx="868216" cy="868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6" descr="Placa com letras pretas&#10;&#10;Descrição gerada automaticamente com confiança média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73690" y="4234324"/>
            <a:ext cx="2366308" cy="654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6" name="Google Shape;126;p15" descr="Logotip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>
            <a:spLocks noGrp="1"/>
          </p:cNvSpPr>
          <p:nvPr>
            <p:ph type="subTitle" idx="1"/>
          </p:nvPr>
        </p:nvSpPr>
        <p:spPr>
          <a:xfrm>
            <a:off x="1263831" y="1021433"/>
            <a:ext cx="6616338" cy="3563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Pré-natal como estratégia de cuidado da gestação</a:t>
            </a:r>
          </a:p>
          <a:p>
            <a:pPr marL="768350" lvl="1" indent="-285750" algn="just"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Prevê complicações e protege a saúde materno-infantil</a:t>
            </a:r>
          </a:p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Acompanhamento contínuo e periódico</a:t>
            </a:r>
          </a:p>
          <a:p>
            <a:pPr marL="768350" lvl="1" indent="-285750" algn="just"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O Ministério da Saúde orienta captação precoce e consultas regulares</a:t>
            </a:r>
          </a:p>
        </p:txBody>
      </p:sp>
      <p:sp>
        <p:nvSpPr>
          <p:cNvPr id="129" name="Google Shape;129;p15"/>
          <p:cNvSpPr txBox="1"/>
          <p:nvPr/>
        </p:nvSpPr>
        <p:spPr>
          <a:xfrm>
            <a:off x="539552" y="-1"/>
            <a:ext cx="8604448" cy="76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15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131" name="Google Shape;131;p15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1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6" name="Google Shape;126;p15" descr="Logotip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>
            <a:spLocks noGrp="1"/>
          </p:cNvSpPr>
          <p:nvPr>
            <p:ph type="subTitle" idx="1"/>
          </p:nvPr>
        </p:nvSpPr>
        <p:spPr>
          <a:xfrm>
            <a:off x="1263831" y="1021433"/>
            <a:ext cx="6616338" cy="3563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A descontinuidade do pré-natal associa-se a piores desfechos</a:t>
            </a:r>
          </a:p>
          <a:p>
            <a:pPr marL="768350" lvl="1" indent="-285750" algn="just"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Barreiras de acesso e condições sociais influenciam a adesão</a:t>
            </a:r>
          </a:p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Educação, renda, habitação e acesso a serviços atuam em conjunto</a:t>
            </a:r>
          </a:p>
          <a:p>
            <a:pPr marL="768350" lvl="1" indent="-285750" algn="just"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A interrupção nem sempre é uma escolha individual</a:t>
            </a:r>
          </a:p>
        </p:txBody>
      </p:sp>
      <p:sp>
        <p:nvSpPr>
          <p:cNvPr id="129" name="Google Shape;129;p15"/>
          <p:cNvSpPr txBox="1"/>
          <p:nvPr/>
        </p:nvSpPr>
        <p:spPr>
          <a:xfrm>
            <a:off x="539552" y="-1"/>
            <a:ext cx="8604448" cy="76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15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131" name="Google Shape;131;p15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2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6" name="Google Shape;126;p15" descr="Logotip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>
            <a:spLocks noGrp="1"/>
          </p:cNvSpPr>
          <p:nvPr>
            <p:ph type="subTitle" idx="1"/>
          </p:nvPr>
        </p:nvSpPr>
        <p:spPr>
          <a:xfrm>
            <a:off x="1263831" y="1021433"/>
            <a:ext cx="6616338" cy="3563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Integrar coleta dos DSS e acompanhamento pré-natal em uma só solução</a:t>
            </a:r>
          </a:p>
          <a:p>
            <a:pPr marL="768350" lvl="1" indent="-285750" algn="just"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Caracterizar a vulnerabilidade social e estimar a propensão</a:t>
            </a:r>
          </a:p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Aplicar aprendizado de máquina sobre os DSS</a:t>
            </a:r>
          </a:p>
          <a:p>
            <a:pPr marL="768350" lvl="1" indent="-285750" algn="just"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Aplicativo móvel como apoio acessível à gestante</a:t>
            </a:r>
          </a:p>
        </p:txBody>
      </p:sp>
      <p:sp>
        <p:nvSpPr>
          <p:cNvPr id="129" name="Google Shape;129;p15"/>
          <p:cNvSpPr txBox="1"/>
          <p:nvPr/>
        </p:nvSpPr>
        <p:spPr>
          <a:xfrm>
            <a:off x="539552" y="-1"/>
            <a:ext cx="8604448" cy="76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15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131" name="Google Shape;131;p15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3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6" name="Google Shape;126;p15" descr="Logotip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>
            <a:spLocks noGrp="1"/>
          </p:cNvSpPr>
          <p:nvPr>
            <p:ph type="subTitle" idx="1"/>
          </p:nvPr>
        </p:nvSpPr>
        <p:spPr>
          <a:xfrm>
            <a:off x="1263831" y="1021433"/>
            <a:ext cx="6616338" cy="3563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Questão de pesquisa</a:t>
            </a:r>
          </a:p>
          <a:p>
            <a:pPr marL="768350" lvl="1" indent="-285750" algn="just"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Em que medida uma abordagem experimental de aprendizado de máquina, baseada nos DSS e avaliada com dados sintéticos, estima a propensão à descontinuidade do pré-natal?</a:t>
            </a:r>
          </a:p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Objetivo geral</a:t>
            </a:r>
          </a:p>
          <a:p>
            <a:pPr marL="768350" lvl="1" indent="-285750" algn="just"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Desenvolver aplicativo móvel, construir o IV-DSS e um modelo que estime essa propensão</a:t>
            </a:r>
          </a:p>
        </p:txBody>
      </p:sp>
      <p:sp>
        <p:nvSpPr>
          <p:cNvPr id="129" name="Google Shape;129;p15"/>
          <p:cNvSpPr txBox="1"/>
          <p:nvPr/>
        </p:nvSpPr>
        <p:spPr>
          <a:xfrm>
            <a:off x="539552" y="-1"/>
            <a:ext cx="8604448" cy="76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15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131" name="Google Shape;131;p15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4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0" name="Google Shape;170;p19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19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172" name="Google Shape;172;p19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>
            <a:spLocks noGrp="1"/>
          </p:cNvSpPr>
          <p:nvPr>
            <p:ph type="subTitle" idx="1"/>
          </p:nvPr>
        </p:nvSpPr>
        <p:spPr>
          <a:xfrm>
            <a:off x="458806" y="1039368"/>
            <a:ext cx="82176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539552" y="0"/>
            <a:ext cx="8604448" cy="699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Fundamentação Teórica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19"/>
          <p:cNvPicPr preferRelativeResize="0"/>
          <p:nvPr/>
        </p:nvPicPr>
        <p:blipFill rotWithShape="1">
          <a:blip r:embed="rId2">
            <a:alphaModFix/>
          </a:blip>
          <a:srcRect l="62601" b="50000"/>
          <a:stretch/>
        </p:blipFill>
        <p:spPr>
          <a:xfrm>
            <a:off x="7612912" y="1"/>
            <a:ext cx="1531088" cy="145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Logotipo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5</a:t>
            </a:r>
            <a:endParaRPr dirty="0"/>
          </a:p>
        </p:txBody>
      </p:sp>
      <p:sp>
        <p:nvSpPr>
          <p:cNvPr id="179" name="Google Shape;179;p19"/>
          <p:cNvSpPr txBox="1"/>
          <p:nvPr/>
        </p:nvSpPr>
        <p:spPr>
          <a:xfrm>
            <a:off x="2373851" y="4350218"/>
            <a:ext cx="438751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Fonte: Adaptado de Dahlgren e Whitehead, Comissão Nacional sobre os Determinantes Sociais da Saúde (2008).</a:t>
            </a:r>
            <a:endParaRPr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entury Gothic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2373851" y="876885"/>
            <a:ext cx="4387510" cy="682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pt-BR" sz="12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Figura 1 – Modelo de determinantes sociais da saúde em camadas</a:t>
            </a:r>
            <a:endParaRPr lang="pt-BR" sz="1200" i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Imagem 7" descr="Diagrama&#10;&#10;O conteúdo gerado por IA pode estar incorreto.">
            <a:extLst>
              <a:ext uri="{FF2B5EF4-FFF2-40B4-BE49-F238E27FC236}">
                <a16:creationId xmlns:a16="http://schemas.microsoft.com/office/drawing/2014/main" id="{33AC6D9C-10F0-8932-0406-D33D0C9DED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1671" y="1429003"/>
            <a:ext cx="4406782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7" name="Google Shape;207;p22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22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209" name="Google Shape;209;p22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539552" y="0"/>
            <a:ext cx="8604448" cy="699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Solução Desenvolvida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22" descr="Logotip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6</a:t>
            </a:r>
            <a:endParaRPr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850BF87-9072-DCF3-6C2E-4AC8C94B7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4849" y="1378387"/>
            <a:ext cx="5534301" cy="3200400"/>
          </a:xfrm>
          <a:prstGeom prst="rect">
            <a:avLst/>
          </a:prstGeom>
        </p:spPr>
      </p:pic>
      <p:sp>
        <p:nvSpPr>
          <p:cNvPr id="3" name="Google Shape;180;p19">
            <a:extLst>
              <a:ext uri="{FF2B5EF4-FFF2-40B4-BE49-F238E27FC236}">
                <a16:creationId xmlns:a16="http://schemas.microsoft.com/office/drawing/2014/main" id="{E54AFEB6-D55A-1430-5CAD-34884AE8C91C}"/>
              </a:ext>
            </a:extLst>
          </p:cNvPr>
          <p:cNvSpPr txBox="1"/>
          <p:nvPr/>
        </p:nvSpPr>
        <p:spPr>
          <a:xfrm>
            <a:off x="1182189" y="916071"/>
            <a:ext cx="6792685" cy="497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Figura 6 – Arquitetura geral da solução</a:t>
            </a:r>
            <a:endParaRPr lang="pt-BR" sz="1200" i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179;p19">
            <a:extLst>
              <a:ext uri="{FF2B5EF4-FFF2-40B4-BE49-F238E27FC236}">
                <a16:creationId xmlns:a16="http://schemas.microsoft.com/office/drawing/2014/main" id="{2837E993-8F1B-9C63-5F51-B0C92662AC5A}"/>
              </a:ext>
            </a:extLst>
          </p:cNvPr>
          <p:cNvSpPr txBox="1"/>
          <p:nvPr/>
        </p:nvSpPr>
        <p:spPr>
          <a:xfrm>
            <a:off x="1182189" y="4647639"/>
            <a:ext cx="6792685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Fonte: Autoria própria (2026).</a:t>
            </a:r>
            <a:endParaRPr lang="pt-BR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7" name="Google Shape;207;p22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22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209" name="Google Shape;209;p22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539552" y="0"/>
            <a:ext cx="8604448" cy="699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Solução Desenvolvida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22" descr="Logotip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7</a:t>
            </a:r>
            <a:endParaRPr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850BF87-9072-DCF3-6C2E-4AC8C94B7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4973" y="1378387"/>
            <a:ext cx="4374052" cy="3200400"/>
          </a:xfrm>
          <a:prstGeom prst="rect">
            <a:avLst/>
          </a:prstGeom>
        </p:spPr>
      </p:pic>
      <p:sp>
        <p:nvSpPr>
          <p:cNvPr id="3" name="Google Shape;180;p19">
            <a:extLst>
              <a:ext uri="{FF2B5EF4-FFF2-40B4-BE49-F238E27FC236}">
                <a16:creationId xmlns:a16="http://schemas.microsoft.com/office/drawing/2014/main" id="{E54AFEB6-D55A-1430-5CAD-34884AE8C91C}"/>
              </a:ext>
            </a:extLst>
          </p:cNvPr>
          <p:cNvSpPr txBox="1"/>
          <p:nvPr/>
        </p:nvSpPr>
        <p:spPr>
          <a:xfrm>
            <a:off x="1182189" y="916071"/>
            <a:ext cx="6792685" cy="497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Figura 7 – Questionário dos DSS: educação, trabalho e renda e saneamento</a:t>
            </a:r>
            <a:endParaRPr lang="pt-BR" sz="1200" i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179;p19">
            <a:extLst>
              <a:ext uri="{FF2B5EF4-FFF2-40B4-BE49-F238E27FC236}">
                <a16:creationId xmlns:a16="http://schemas.microsoft.com/office/drawing/2014/main" id="{2837E993-8F1B-9C63-5F51-B0C92662AC5A}"/>
              </a:ext>
            </a:extLst>
          </p:cNvPr>
          <p:cNvSpPr txBox="1"/>
          <p:nvPr/>
        </p:nvSpPr>
        <p:spPr>
          <a:xfrm>
            <a:off x="1182189" y="4647639"/>
            <a:ext cx="6792685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Fonte: Autoria própria (2026).</a:t>
            </a:r>
            <a:endParaRPr lang="pt-BR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0" name="Google Shape;170;p19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19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172" name="Google Shape;172;p19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>
            <a:spLocks noGrp="1"/>
          </p:cNvSpPr>
          <p:nvPr>
            <p:ph type="subTitle" idx="1"/>
          </p:nvPr>
        </p:nvSpPr>
        <p:spPr>
          <a:xfrm>
            <a:off x="458806" y="1039368"/>
            <a:ext cx="82176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539552" y="0"/>
            <a:ext cx="8604448" cy="699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Fundamentação Teórica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19"/>
          <p:cNvPicPr preferRelativeResize="0"/>
          <p:nvPr/>
        </p:nvPicPr>
        <p:blipFill rotWithShape="1">
          <a:blip r:embed="rId2">
            <a:alphaModFix/>
          </a:blip>
          <a:srcRect l="62601" b="50000"/>
          <a:stretch/>
        </p:blipFill>
        <p:spPr>
          <a:xfrm>
            <a:off x="7612912" y="1"/>
            <a:ext cx="1531088" cy="145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Logotipo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8</a:t>
            </a:r>
            <a:endParaRPr dirty="0"/>
          </a:p>
        </p:txBody>
      </p:sp>
      <p:sp>
        <p:nvSpPr>
          <p:cNvPr id="179" name="Google Shape;179;p19"/>
          <p:cNvSpPr txBox="1"/>
          <p:nvPr/>
        </p:nvSpPr>
        <p:spPr>
          <a:xfrm>
            <a:off x="2373851" y="4350218"/>
            <a:ext cx="438751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Fonte: Autoria própria (2026).</a:t>
            </a:r>
            <a:endParaRPr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entury Gothic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2373851" y="876885"/>
            <a:ext cx="4387510" cy="682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pt-BR" sz="12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Figura 3 – Estrutura em três níveis de agregação do IV-DSS</a:t>
            </a:r>
            <a:endParaRPr lang="pt-BR" sz="1200" i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Imagem 7" descr="Diagrama&#10;&#10;O conteúdo gerado por IA pode estar incorreto.">
            <a:extLst>
              <a:ext uri="{FF2B5EF4-FFF2-40B4-BE49-F238E27FC236}">
                <a16:creationId xmlns:a16="http://schemas.microsoft.com/office/drawing/2014/main" id="{33AC6D9C-10F0-8932-0406-D33D0C9DED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4062" y="1429003"/>
            <a:ext cx="43620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7" name="Google Shape;207;p22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22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209" name="Google Shape;209;p22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539552" y="0"/>
            <a:ext cx="8604448" cy="699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Metodologia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22" descr="Logotip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9</a:t>
            </a:r>
            <a:endParaRPr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850BF87-9072-DCF3-6C2E-4AC8C94B7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1248" y="1378387"/>
            <a:ext cx="5641503" cy="3200400"/>
          </a:xfrm>
          <a:prstGeom prst="rect">
            <a:avLst/>
          </a:prstGeom>
        </p:spPr>
      </p:pic>
      <p:sp>
        <p:nvSpPr>
          <p:cNvPr id="3" name="Google Shape;180;p19">
            <a:extLst>
              <a:ext uri="{FF2B5EF4-FFF2-40B4-BE49-F238E27FC236}">
                <a16:creationId xmlns:a16="http://schemas.microsoft.com/office/drawing/2014/main" id="{E54AFEB6-D55A-1430-5CAD-34884AE8C91C}"/>
              </a:ext>
            </a:extLst>
          </p:cNvPr>
          <p:cNvSpPr txBox="1"/>
          <p:nvPr/>
        </p:nvSpPr>
        <p:spPr>
          <a:xfrm>
            <a:off x="1182189" y="916071"/>
            <a:ext cx="6792685" cy="497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Figura 4 – Modelo gerador de dados sintéticos</a:t>
            </a:r>
            <a:endParaRPr lang="pt-BR" sz="1200" i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179;p19">
            <a:extLst>
              <a:ext uri="{FF2B5EF4-FFF2-40B4-BE49-F238E27FC236}">
                <a16:creationId xmlns:a16="http://schemas.microsoft.com/office/drawing/2014/main" id="{2837E993-8F1B-9C63-5F51-B0C92662AC5A}"/>
              </a:ext>
            </a:extLst>
          </p:cNvPr>
          <p:cNvSpPr txBox="1"/>
          <p:nvPr/>
        </p:nvSpPr>
        <p:spPr>
          <a:xfrm>
            <a:off x="1182189" y="4647639"/>
            <a:ext cx="6792685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Fonte: Autoria própria (2026).</a:t>
            </a:r>
            <a:endParaRPr lang="pt-BR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6" name="Google Shape;126;p15" descr="Logotip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>
            <a:spLocks noGrp="1"/>
          </p:cNvSpPr>
          <p:nvPr>
            <p:ph type="subTitle" idx="1"/>
          </p:nvPr>
        </p:nvSpPr>
        <p:spPr>
          <a:xfrm>
            <a:off x="1263831" y="1021433"/>
            <a:ext cx="6616338" cy="3563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Random Forest: modelo supervisionado</a:t>
            </a:r>
          </a:p>
          <a:p>
            <a:pPr marL="768350" lvl="1" indent="-285750" algn="just"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Conjunto de árvores de decisão que estima a propensão</a:t>
            </a:r>
          </a:p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Comparado com regressão logística e XGBoost</a:t>
            </a:r>
          </a:p>
          <a:p>
            <a:pPr marL="768350" lvl="1" indent="-285750" algn="just"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Selecionado pela maior PR-AUC média na validação cruzada</a:t>
            </a:r>
          </a:p>
        </p:txBody>
      </p:sp>
      <p:sp>
        <p:nvSpPr>
          <p:cNvPr id="129" name="Google Shape;129;p15"/>
          <p:cNvSpPr txBox="1"/>
          <p:nvPr/>
        </p:nvSpPr>
        <p:spPr>
          <a:xfrm>
            <a:off x="539552" y="-1"/>
            <a:ext cx="8604448" cy="76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Metodologia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15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131" name="Google Shape;131;p15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10</a:t>
            </a: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0" name="Google Shape;170;p19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19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172" name="Google Shape;172;p19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>
            <a:spLocks noGrp="1"/>
          </p:cNvSpPr>
          <p:nvPr>
            <p:ph type="subTitle" idx="1"/>
          </p:nvPr>
        </p:nvSpPr>
        <p:spPr>
          <a:xfrm>
            <a:off x="458806" y="1039368"/>
            <a:ext cx="82176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539552" y="0"/>
            <a:ext cx="8604448" cy="699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Metodologia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19"/>
          <p:cNvPicPr preferRelativeResize="0"/>
          <p:nvPr/>
        </p:nvPicPr>
        <p:blipFill rotWithShape="1">
          <a:blip r:embed="rId2">
            <a:alphaModFix/>
          </a:blip>
          <a:srcRect l="62601" b="50000"/>
          <a:stretch/>
        </p:blipFill>
        <p:spPr>
          <a:xfrm>
            <a:off x="7612912" y="1"/>
            <a:ext cx="1531088" cy="145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Logotipo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11</a:t>
            </a:r>
            <a:endParaRPr dirty="0"/>
          </a:p>
        </p:txBody>
      </p:sp>
      <p:sp>
        <p:nvSpPr>
          <p:cNvPr id="179" name="Google Shape;179;p19"/>
          <p:cNvSpPr txBox="1"/>
          <p:nvPr/>
        </p:nvSpPr>
        <p:spPr>
          <a:xfrm>
            <a:off x="2373851" y="4350218"/>
            <a:ext cx="438751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Fonte: Autoria própria (2026).</a:t>
            </a:r>
            <a:endParaRPr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entury Gothic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2373851" y="876885"/>
            <a:ext cx="4387510" cy="682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pt-BR" sz="12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Figura 2 – Conceito didático de um Self-Organizing Map</a:t>
            </a:r>
            <a:endParaRPr lang="pt-BR" sz="1200" i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Imagem 7" descr="Diagrama&#10;&#10;O conteúdo gerado por IA pode estar incorreto.">
            <a:extLst>
              <a:ext uri="{FF2B5EF4-FFF2-40B4-BE49-F238E27FC236}">
                <a16:creationId xmlns:a16="http://schemas.microsoft.com/office/drawing/2014/main" id="{33AC6D9C-10F0-8932-0406-D33D0C9DED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9063" y="1628973"/>
            <a:ext cx="4572000" cy="252613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7" name="Google Shape;207;p22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22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209" name="Google Shape;209;p22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539552" y="0"/>
            <a:ext cx="8604448" cy="699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Metodologia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22" descr="Logotip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12</a:t>
            </a:r>
            <a:endParaRPr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850BF87-9072-DCF3-6C2E-4AC8C94B7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8666" y="1378387"/>
            <a:ext cx="5386666" cy="3200400"/>
          </a:xfrm>
          <a:prstGeom prst="rect">
            <a:avLst/>
          </a:prstGeom>
        </p:spPr>
      </p:pic>
      <p:sp>
        <p:nvSpPr>
          <p:cNvPr id="3" name="Google Shape;180;p19">
            <a:extLst>
              <a:ext uri="{FF2B5EF4-FFF2-40B4-BE49-F238E27FC236}">
                <a16:creationId xmlns:a16="http://schemas.microsoft.com/office/drawing/2014/main" id="{E54AFEB6-D55A-1430-5CAD-34884AE8C91C}"/>
              </a:ext>
            </a:extLst>
          </p:cNvPr>
          <p:cNvSpPr txBox="1"/>
          <p:nvPr/>
        </p:nvSpPr>
        <p:spPr>
          <a:xfrm>
            <a:off x="1182189" y="916071"/>
            <a:ext cx="6792685" cy="497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Figura 5 – Fluxo integrado do experimento</a:t>
            </a:r>
            <a:endParaRPr lang="pt-BR" sz="1200" i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179;p19">
            <a:extLst>
              <a:ext uri="{FF2B5EF4-FFF2-40B4-BE49-F238E27FC236}">
                <a16:creationId xmlns:a16="http://schemas.microsoft.com/office/drawing/2014/main" id="{2837E993-8F1B-9C63-5F51-B0C92662AC5A}"/>
              </a:ext>
            </a:extLst>
          </p:cNvPr>
          <p:cNvSpPr txBox="1"/>
          <p:nvPr/>
        </p:nvSpPr>
        <p:spPr>
          <a:xfrm>
            <a:off x="1182189" y="4647639"/>
            <a:ext cx="6792685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Fonte: Autoria própria (2026).</a:t>
            </a:r>
            <a:endParaRPr lang="pt-BR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0" name="Google Shape;170;p19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19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172" name="Google Shape;172;p19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>
            <a:spLocks noGrp="1"/>
          </p:cNvSpPr>
          <p:nvPr>
            <p:ph type="subTitle" idx="1"/>
          </p:nvPr>
        </p:nvSpPr>
        <p:spPr>
          <a:xfrm>
            <a:off x="458806" y="1039368"/>
            <a:ext cx="82176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539552" y="0"/>
            <a:ext cx="8604448" cy="699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Resultados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19"/>
          <p:cNvPicPr preferRelativeResize="0"/>
          <p:nvPr/>
        </p:nvPicPr>
        <p:blipFill rotWithShape="1">
          <a:blip r:embed="rId2">
            <a:alphaModFix/>
          </a:blip>
          <a:srcRect l="62601" b="50000"/>
          <a:stretch/>
        </p:blipFill>
        <p:spPr>
          <a:xfrm>
            <a:off x="7612912" y="1"/>
            <a:ext cx="1531088" cy="145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Logotipo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13</a:t>
            </a:r>
            <a:endParaRPr dirty="0"/>
          </a:p>
        </p:txBody>
      </p:sp>
      <p:sp>
        <p:nvSpPr>
          <p:cNvPr id="179" name="Google Shape;179;p19"/>
          <p:cNvSpPr txBox="1"/>
          <p:nvPr/>
        </p:nvSpPr>
        <p:spPr>
          <a:xfrm>
            <a:off x="2373851" y="4350218"/>
            <a:ext cx="438751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Fonte: Autoria própria (2026).</a:t>
            </a:r>
            <a:endParaRPr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entury Gothic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2373851" y="876885"/>
            <a:ext cx="4387510" cy="682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pt-BR" sz="12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Figura 18 – Comparação dos modelos por PR-AUC</a:t>
            </a:r>
            <a:endParaRPr lang="pt-BR" sz="1200" i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Imagem 7" descr="Diagrama&#10;&#10;O conteúdo gerado por IA pode estar incorreto.">
            <a:extLst>
              <a:ext uri="{FF2B5EF4-FFF2-40B4-BE49-F238E27FC236}">
                <a16:creationId xmlns:a16="http://schemas.microsoft.com/office/drawing/2014/main" id="{33AC6D9C-10F0-8932-0406-D33D0C9DED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1190" y="1429003"/>
            <a:ext cx="4507744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6" name="Google Shape;126;p15" descr="Logotip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>
            <a:spLocks noGrp="1"/>
          </p:cNvSpPr>
          <p:nvPr>
            <p:ph type="subTitle" idx="1"/>
          </p:nvPr>
        </p:nvSpPr>
        <p:spPr>
          <a:xfrm>
            <a:off x="1263831" y="1021433"/>
            <a:ext cx="6616338" cy="3563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Desempenho no conjunto de teste separado</a:t>
            </a:r>
          </a:p>
          <a:p>
            <a:pPr marL="768350" lvl="1" indent="-285750" algn="just"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ROC-AUC ≈ 0,62 · PR-AUC ≈ 0,34 · Brier ≈ 0,18</a:t>
            </a:r>
          </a:p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No limiar de referência 0,5, recall zero para a classe positiva</a:t>
            </a:r>
          </a:p>
          <a:p>
            <a:pPr marL="768350" lvl="1" indent="-285750" algn="just"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O aplicativo devolve apenas a probabilidade, não classe nem 'risco'</a:t>
            </a:r>
          </a:p>
        </p:txBody>
      </p:sp>
      <p:sp>
        <p:nvSpPr>
          <p:cNvPr id="129" name="Google Shape;129;p15"/>
          <p:cNvSpPr txBox="1"/>
          <p:nvPr/>
        </p:nvSpPr>
        <p:spPr>
          <a:xfrm>
            <a:off x="539552" y="-1"/>
            <a:ext cx="8604448" cy="76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Resultados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15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131" name="Google Shape;131;p15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14</a:t>
            </a: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0" name="Google Shape;170;p19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19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172" name="Google Shape;172;p19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>
            <a:spLocks noGrp="1"/>
          </p:cNvSpPr>
          <p:nvPr>
            <p:ph type="subTitle" idx="1"/>
          </p:nvPr>
        </p:nvSpPr>
        <p:spPr>
          <a:xfrm>
            <a:off x="458806" y="1039368"/>
            <a:ext cx="82176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539552" y="0"/>
            <a:ext cx="8604448" cy="699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Resultados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19"/>
          <p:cNvPicPr preferRelativeResize="0"/>
          <p:nvPr/>
        </p:nvPicPr>
        <p:blipFill rotWithShape="1">
          <a:blip r:embed="rId2">
            <a:alphaModFix/>
          </a:blip>
          <a:srcRect l="62601" b="50000"/>
          <a:stretch/>
        </p:blipFill>
        <p:spPr>
          <a:xfrm>
            <a:off x="7612912" y="1"/>
            <a:ext cx="1531088" cy="145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Logotipo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15</a:t>
            </a:r>
            <a:endParaRPr dirty="0"/>
          </a:p>
        </p:txBody>
      </p:sp>
      <p:sp>
        <p:nvSpPr>
          <p:cNvPr id="179" name="Google Shape;179;p19"/>
          <p:cNvSpPr txBox="1"/>
          <p:nvPr/>
        </p:nvSpPr>
        <p:spPr>
          <a:xfrm>
            <a:off x="2373851" y="4350218"/>
            <a:ext cx="438751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Fonte: Autoria própria (2026).</a:t>
            </a:r>
            <a:endParaRPr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entury Gothic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2373851" y="876885"/>
            <a:ext cx="4387510" cy="682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pt-BR" sz="12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Figura 28 – Proporção da variável-alvo sintética positiva por grupo SOM</a:t>
            </a:r>
            <a:endParaRPr lang="pt-BR" sz="1200" i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Imagem 7" descr="Diagrama&#10;&#10;O conteúdo gerado por IA pode estar incorreto.">
            <a:extLst>
              <a:ext uri="{FF2B5EF4-FFF2-40B4-BE49-F238E27FC236}">
                <a16:creationId xmlns:a16="http://schemas.microsoft.com/office/drawing/2014/main" id="{33AC6D9C-10F0-8932-0406-D33D0C9DED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8137" y="1429003"/>
            <a:ext cx="3833851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0" name="Google Shape;170;p19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19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172" name="Google Shape;172;p19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>
            <a:spLocks noGrp="1"/>
          </p:cNvSpPr>
          <p:nvPr>
            <p:ph type="subTitle" idx="1"/>
          </p:nvPr>
        </p:nvSpPr>
        <p:spPr>
          <a:xfrm>
            <a:off x="458806" y="1039368"/>
            <a:ext cx="82176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539552" y="0"/>
            <a:ext cx="8604448" cy="699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Solução Desenvolvida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19"/>
          <p:cNvPicPr preferRelativeResize="0"/>
          <p:nvPr/>
        </p:nvPicPr>
        <p:blipFill rotWithShape="1">
          <a:blip r:embed="rId2">
            <a:alphaModFix/>
          </a:blip>
          <a:srcRect l="62601" b="50000"/>
          <a:stretch/>
        </p:blipFill>
        <p:spPr>
          <a:xfrm>
            <a:off x="7612912" y="1"/>
            <a:ext cx="1531088" cy="145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Logotipo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16</a:t>
            </a:r>
            <a:endParaRPr dirty="0"/>
          </a:p>
        </p:txBody>
      </p:sp>
      <p:sp>
        <p:nvSpPr>
          <p:cNvPr id="179" name="Google Shape;179;p19"/>
          <p:cNvSpPr txBox="1"/>
          <p:nvPr/>
        </p:nvSpPr>
        <p:spPr>
          <a:xfrm>
            <a:off x="2373851" y="4350218"/>
            <a:ext cx="438751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Fonte: Autoria própria (2026).</a:t>
            </a:r>
            <a:endParaRPr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entury Gothic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2373851" y="876885"/>
            <a:ext cx="4387510" cy="682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pt-BR" sz="12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Figura 9 – Funcionalidades do acompanhamento pré-natal</a:t>
            </a:r>
            <a:endParaRPr lang="pt-BR" sz="1200" i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Imagem 7" descr="Diagrama&#10;&#10;O conteúdo gerado por IA pode estar incorreto.">
            <a:extLst>
              <a:ext uri="{FF2B5EF4-FFF2-40B4-BE49-F238E27FC236}">
                <a16:creationId xmlns:a16="http://schemas.microsoft.com/office/drawing/2014/main" id="{33AC6D9C-10F0-8932-0406-D33D0C9DED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6316" y="1429003"/>
            <a:ext cx="2017492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6" name="Google Shape;126;p15" descr="Logotip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>
            <a:spLocks noGrp="1"/>
          </p:cNvSpPr>
          <p:nvPr>
            <p:ph type="subTitle" idx="1"/>
          </p:nvPr>
        </p:nvSpPr>
        <p:spPr>
          <a:xfrm>
            <a:off x="1263831" y="1021433"/>
            <a:ext cx="6616338" cy="3563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Fluxo de ponta a ponta</a:t>
            </a:r>
          </a:p>
          <a:p>
            <a:pPr marL="768350" lvl="1" indent="-285750" algn="just"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Aplicativo envia o questionário à API; a API aciona o modelo</a:t>
            </a:r>
          </a:p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Modelo devolve a probabilidade; o app apresenta o resultado</a:t>
            </a:r>
          </a:p>
          <a:p>
            <a:pPr marL="768350" lvl="1" indent="-285750" algn="just"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Acompanhamento persistido no servidor, com autenticação e propriedade por usuária</a:t>
            </a:r>
          </a:p>
        </p:txBody>
      </p:sp>
      <p:sp>
        <p:nvSpPr>
          <p:cNvPr id="129" name="Google Shape;129;p15"/>
          <p:cNvSpPr txBox="1"/>
          <p:nvPr/>
        </p:nvSpPr>
        <p:spPr>
          <a:xfrm>
            <a:off x="539552" y="-1"/>
            <a:ext cx="8604448" cy="76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Solução Desenvolvida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15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131" name="Google Shape;131;p15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17</a:t>
            </a:r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6" name="Google Shape;126;p15" descr="Logotip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>
            <a:spLocks noGrp="1"/>
          </p:cNvSpPr>
          <p:nvPr>
            <p:ph type="subTitle" idx="1"/>
          </p:nvPr>
        </p:nvSpPr>
        <p:spPr>
          <a:xfrm>
            <a:off x="1263831" y="1021433"/>
            <a:ext cx="6616338" cy="3563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Conta fictícia → acompanhamento da gestação</a:t>
            </a:r>
          </a:p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Questionário DSS (seis dimensões) → estimativa experimental</a:t>
            </a:r>
          </a:p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Aviso de não-diagnóstico em linguagem simples</a:t>
            </a:r>
          </a:p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Consultas, exames, vacinas, medicamentos, plano de parto e histórico</a:t>
            </a:r>
          </a:p>
        </p:txBody>
      </p:sp>
      <p:sp>
        <p:nvSpPr>
          <p:cNvPr id="129" name="Google Shape;129;p15"/>
          <p:cNvSpPr txBox="1"/>
          <p:nvPr/>
        </p:nvSpPr>
        <p:spPr>
          <a:xfrm>
            <a:off x="539552" y="-1"/>
            <a:ext cx="8604448" cy="76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Demonstração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15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131" name="Google Shape;131;p15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18</a:t>
            </a:r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6" name="Google Shape;126;p15" descr="Logotip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>
            <a:spLocks noGrp="1"/>
          </p:cNvSpPr>
          <p:nvPr>
            <p:ph type="subTitle" idx="1"/>
          </p:nvPr>
        </p:nvSpPr>
        <p:spPr>
          <a:xfrm>
            <a:off x="1263831" y="1021433"/>
            <a:ext cx="6616338" cy="3563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Dados sintéticos: sem validade externa ou clínica</a:t>
            </a:r>
          </a:p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Estimativa estatística, não diagnóstico</a:t>
            </a:r>
          </a:p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Desempenho discriminativo limitado (recall zero no limiar 0,5)</a:t>
            </a:r>
          </a:p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Associação estatística não é causalidade</a:t>
            </a:r>
          </a:p>
          <a:p>
            <a:pPr marL="768350" lvl="1" indent="-285750" algn="just"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Uso real futuro exigiria consentimento e LGPD</a:t>
            </a:r>
          </a:p>
        </p:txBody>
      </p:sp>
      <p:sp>
        <p:nvSpPr>
          <p:cNvPr id="129" name="Google Shape;129;p15"/>
          <p:cNvSpPr txBox="1"/>
          <p:nvPr/>
        </p:nvSpPr>
        <p:spPr>
          <a:xfrm>
            <a:off x="539552" y="-1"/>
            <a:ext cx="8604448" cy="76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Considerações Finais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15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131" name="Google Shape;131;p15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19</a:t>
            </a:r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6" name="Google Shape;126;p15" descr="Logotip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>
            <a:spLocks noGrp="1"/>
          </p:cNvSpPr>
          <p:nvPr>
            <p:ph type="subTitle" idx="1"/>
          </p:nvPr>
        </p:nvSpPr>
        <p:spPr>
          <a:xfrm>
            <a:off x="1263831" y="1021433"/>
            <a:ext cx="6616338" cy="3563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Pipeline experimental reproduzível e documentado</a:t>
            </a:r>
          </a:p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Integração de engenharia: questionário + modelo + acompanhamento em um app</a:t>
            </a:r>
          </a:p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Trabalhos futuros: validação com dados reais</a:t>
            </a:r>
          </a:p>
          <a:p>
            <a:pPr marL="768350" lvl="1" indent="-285750" algn="just"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Operacionalização longitudinal do desfecho, sob requisitos éticos e de consentimento</a:t>
            </a:r>
          </a:p>
        </p:txBody>
      </p:sp>
      <p:sp>
        <p:nvSpPr>
          <p:cNvPr id="129" name="Google Shape;129;p15"/>
          <p:cNvSpPr txBox="1"/>
          <p:nvPr/>
        </p:nvSpPr>
        <p:spPr>
          <a:xfrm>
            <a:off x="539552" y="-1"/>
            <a:ext cx="8604448" cy="76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Considerações Finais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15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131" name="Google Shape;131;p15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20</a:t>
            </a:r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6" name="Google Shape;126;p15" descr="Logotip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>
            <a:spLocks noGrp="1"/>
          </p:cNvSpPr>
          <p:nvPr>
            <p:ph type="subTitle" idx="1"/>
          </p:nvPr>
        </p:nvSpPr>
        <p:spPr>
          <a:xfrm>
            <a:off x="1263831" y="1021433"/>
            <a:ext cx="6616338" cy="3563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Base metodológica e tecnológica experimental consolidada</a:t>
            </a:r>
          </a:p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Valor na consolidação do pipeline e na integração de software</a:t>
            </a:r>
          </a:p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Resultados experimentais — não validam o modelo clinicamente</a:t>
            </a:r>
          </a:p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O problema não foi resolvido; a base foi criada</a:t>
            </a:r>
          </a:p>
        </p:txBody>
      </p:sp>
      <p:sp>
        <p:nvSpPr>
          <p:cNvPr id="129" name="Google Shape;129;p15"/>
          <p:cNvSpPr txBox="1"/>
          <p:nvPr/>
        </p:nvSpPr>
        <p:spPr>
          <a:xfrm>
            <a:off x="539552" y="-1"/>
            <a:ext cx="8604448" cy="76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Considerações Finais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15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131" name="Google Shape;131;p15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21</a:t>
            </a:r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0" name="Google Shape;170;p19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19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172" name="Google Shape;172;p19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>
            <a:spLocks noGrp="1"/>
          </p:cNvSpPr>
          <p:nvPr>
            <p:ph type="subTitle" idx="1"/>
          </p:nvPr>
        </p:nvSpPr>
        <p:spPr>
          <a:xfrm>
            <a:off x="458806" y="1039368"/>
            <a:ext cx="82176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539552" y="0"/>
            <a:ext cx="8604448" cy="699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Anexo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19"/>
          <p:cNvPicPr preferRelativeResize="0"/>
          <p:nvPr/>
        </p:nvPicPr>
        <p:blipFill rotWithShape="1">
          <a:blip r:embed="rId2">
            <a:alphaModFix/>
          </a:blip>
          <a:srcRect l="62601" b="50000"/>
          <a:stretch/>
        </p:blipFill>
        <p:spPr>
          <a:xfrm>
            <a:off x="7612912" y="1"/>
            <a:ext cx="1531088" cy="145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Logotipo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/>
            </a:r>
            <a:endParaRPr dirty="0"/>
          </a:p>
        </p:txBody>
      </p:sp>
      <p:sp>
        <p:nvSpPr>
          <p:cNvPr id="179" name="Google Shape;179;p19"/>
          <p:cNvSpPr txBox="1"/>
          <p:nvPr/>
        </p:nvSpPr>
        <p:spPr>
          <a:xfrm>
            <a:off x="2373851" y="4350218"/>
            <a:ext cx="438751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Fonte: Autoria própria (2026).</a:t>
            </a:r>
            <a:endParaRPr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entury Gothic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2373851" y="876885"/>
            <a:ext cx="4387510" cy="682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pt-BR" sz="12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Curva de calibração do modelo selecionado</a:t>
            </a:r>
            <a:endParaRPr lang="pt-BR" sz="1200" i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Imagem 7" descr="Diagrama&#10;&#10;O conteúdo gerado por IA pode estar incorreto.">
            <a:extLst>
              <a:ext uri="{FF2B5EF4-FFF2-40B4-BE49-F238E27FC236}">
                <a16:creationId xmlns:a16="http://schemas.microsoft.com/office/drawing/2014/main" id="{33AC6D9C-10F0-8932-0406-D33D0C9DED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3676" y="1429003"/>
            <a:ext cx="2922773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6" name="Google Shape;126;p15" descr="Logotip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>
            <a:spLocks noGrp="1"/>
          </p:cNvSpPr>
          <p:nvPr>
            <p:ph type="subTitle" idx="1"/>
          </p:nvPr>
        </p:nvSpPr>
        <p:spPr>
          <a:xfrm>
            <a:off x="1263831" y="1021433"/>
            <a:ext cx="6616338" cy="3563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IV-DSS — índice descritivo (0–1) da vulnerabilidade social</a:t>
            </a:r>
          </a:p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Random Forest — modelo supervisionado que estima a propensão</a:t>
            </a:r>
          </a:p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SOM — análise exploratória que agrupa perfis sociais</a:t>
            </a:r>
          </a:p>
          <a:p>
            <a:pPr marL="768350" lvl="1" indent="-285750" algn="just"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Papéis distintos e complementares; apenas o RF gera a estimativa</a:t>
            </a:r>
          </a:p>
        </p:txBody>
      </p:sp>
      <p:sp>
        <p:nvSpPr>
          <p:cNvPr id="129" name="Google Shape;129;p15"/>
          <p:cNvSpPr txBox="1"/>
          <p:nvPr/>
        </p:nvSpPr>
        <p:spPr>
          <a:xfrm>
            <a:off x="539552" y="-1"/>
            <a:ext cx="8604448" cy="76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Anexo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15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131" name="Google Shape;131;p15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/>
            </a:r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7" name="Google Shape;207;p22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22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209" name="Google Shape;209;p22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539552" y="0"/>
            <a:ext cx="8604448" cy="699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Anexo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22" descr="Logotip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/>
            </a:r>
            <a:endParaRPr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850BF87-9072-DCF3-6C2E-4AC8C94B7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5166" y="1378387"/>
            <a:ext cx="4833667" cy="3200400"/>
          </a:xfrm>
          <a:prstGeom prst="rect">
            <a:avLst/>
          </a:prstGeom>
        </p:spPr>
      </p:pic>
      <p:sp>
        <p:nvSpPr>
          <p:cNvPr id="3" name="Google Shape;180;p19">
            <a:extLst>
              <a:ext uri="{FF2B5EF4-FFF2-40B4-BE49-F238E27FC236}">
                <a16:creationId xmlns:a16="http://schemas.microsoft.com/office/drawing/2014/main" id="{E54AFEB6-D55A-1430-5CAD-34884AE8C91C}"/>
              </a:ext>
            </a:extLst>
          </p:cNvPr>
          <p:cNvSpPr txBox="1"/>
          <p:nvPr/>
        </p:nvSpPr>
        <p:spPr>
          <a:xfrm>
            <a:off x="1182189" y="916071"/>
            <a:ext cx="6792685" cy="497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Figura 17 – Modelo de domínio do acompanhamento pré-natal</a:t>
            </a:r>
            <a:endParaRPr lang="pt-BR" sz="1200" i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179;p19">
            <a:extLst>
              <a:ext uri="{FF2B5EF4-FFF2-40B4-BE49-F238E27FC236}">
                <a16:creationId xmlns:a16="http://schemas.microsoft.com/office/drawing/2014/main" id="{2837E993-8F1B-9C63-5F51-B0C92662AC5A}"/>
              </a:ext>
            </a:extLst>
          </p:cNvPr>
          <p:cNvSpPr txBox="1"/>
          <p:nvPr/>
        </p:nvSpPr>
        <p:spPr>
          <a:xfrm>
            <a:off x="1182189" y="4647639"/>
            <a:ext cx="6792685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Fonte: Autoria própria (2026).</a:t>
            </a:r>
            <a:endParaRPr lang="pt-BR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0" name="Google Shape;170;p19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19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172" name="Google Shape;172;p19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>
            <a:spLocks noGrp="1"/>
          </p:cNvSpPr>
          <p:nvPr>
            <p:ph type="subTitle" idx="1"/>
          </p:nvPr>
        </p:nvSpPr>
        <p:spPr>
          <a:xfrm>
            <a:off x="458806" y="1039368"/>
            <a:ext cx="82176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539552" y="0"/>
            <a:ext cx="8604448" cy="699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Anexo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19"/>
          <p:cNvPicPr preferRelativeResize="0"/>
          <p:nvPr/>
        </p:nvPicPr>
        <p:blipFill rotWithShape="1">
          <a:blip r:embed="rId2">
            <a:alphaModFix/>
          </a:blip>
          <a:srcRect l="62601" b="50000"/>
          <a:stretch/>
        </p:blipFill>
        <p:spPr>
          <a:xfrm>
            <a:off x="7612912" y="1"/>
            <a:ext cx="1531088" cy="145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Logotipo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/>
            </a:r>
            <a:endParaRPr dirty="0"/>
          </a:p>
        </p:txBody>
      </p:sp>
      <p:sp>
        <p:nvSpPr>
          <p:cNvPr id="179" name="Google Shape;179;p19"/>
          <p:cNvSpPr txBox="1"/>
          <p:nvPr/>
        </p:nvSpPr>
        <p:spPr>
          <a:xfrm>
            <a:off x="2373851" y="4350218"/>
            <a:ext cx="438751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Fonte: Autoria própria (2026).</a:t>
            </a:r>
            <a:endParaRPr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entury Gothic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2373851" y="876885"/>
            <a:ext cx="4387510" cy="682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pt-BR" sz="12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Figura 21 – Cobertura do IV-DSS no conjunto de dados sintético</a:t>
            </a:r>
            <a:endParaRPr lang="pt-BR" sz="1200" i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Imagem 7" descr="Diagrama&#10;&#10;O conteúdo gerado por IA pode estar incorreto.">
            <a:extLst>
              <a:ext uri="{FF2B5EF4-FFF2-40B4-BE49-F238E27FC236}">
                <a16:creationId xmlns:a16="http://schemas.microsoft.com/office/drawing/2014/main" id="{33AC6D9C-10F0-8932-0406-D33D0C9DED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9063" y="1481066"/>
            <a:ext cx="4572000" cy="282195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6" name="Google Shape;126;p15" descr="Logotip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>
            <a:spLocks noGrp="1"/>
          </p:cNvSpPr>
          <p:nvPr>
            <p:ph type="subTitle" idx="1"/>
          </p:nvPr>
        </p:nvSpPr>
        <p:spPr>
          <a:xfrm>
            <a:off x="1263831" y="1021433"/>
            <a:ext cx="6616338" cy="3563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Operacionalizar o desfecho de forma longitudinal (dados reais)</a:t>
            </a:r>
          </a:p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Consentimento informado e conformidade com a LGPD</a:t>
            </a:r>
          </a:p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Submissão a comitê de ética em pesquisa</a:t>
            </a:r>
          </a:p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Validação externa do modelo e do IV-DSS</a:t>
            </a:r>
          </a:p>
        </p:txBody>
      </p:sp>
      <p:sp>
        <p:nvSpPr>
          <p:cNvPr id="129" name="Google Shape;129;p15"/>
          <p:cNvSpPr txBox="1"/>
          <p:nvPr/>
        </p:nvSpPr>
        <p:spPr>
          <a:xfrm>
            <a:off x="539552" y="-1"/>
            <a:ext cx="8604448" cy="76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Anexo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15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131" name="Google Shape;131;p15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/>
            </a:r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6" name="Google Shape;126;p15" descr="Logotip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>
            <a:spLocks noGrp="1"/>
          </p:cNvSpPr>
          <p:nvPr>
            <p:ph type="subTitle" idx="1"/>
          </p:nvPr>
        </p:nvSpPr>
        <p:spPr>
          <a:xfrm>
            <a:off x="1263831" y="1021433"/>
            <a:ext cx="6616338" cy="3563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Autenticação → cadastro → onboarding</a:t>
            </a:r>
          </a:p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Questionário DSS (6 dimensões) → envio → estimativa</a:t>
            </a:r>
          </a:p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Acompanhamento: consultas, exames, vacinas, medicamentos</a:t>
            </a:r>
          </a:p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Gestação, plano de parto, perfil e histórico de avaliações</a:t>
            </a:r>
          </a:p>
        </p:txBody>
      </p:sp>
      <p:sp>
        <p:nvSpPr>
          <p:cNvPr id="129" name="Google Shape;129;p15"/>
          <p:cNvSpPr txBox="1"/>
          <p:nvPr/>
        </p:nvSpPr>
        <p:spPr>
          <a:xfrm>
            <a:off x="539552" y="-1"/>
            <a:ext cx="8604448" cy="76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Anexo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15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131" name="Google Shape;131;p15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/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1793</TotalTime>
  <Words>1252</Words>
  <Application>Microsoft Office PowerPoint</Application>
  <PresentationFormat>Apresentação na tela (16:9)</PresentationFormat>
  <Paragraphs>213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3" baseType="lpstr">
      <vt:lpstr>Courier New</vt:lpstr>
      <vt:lpstr>Arial</vt:lpstr>
      <vt:lpstr>Calibri</vt:lpstr>
      <vt:lpstr>Century Gothic</vt:lpstr>
      <vt:lpstr>Tema do Office</vt:lpstr>
      <vt:lpstr>ANTÔNIO HÁRLITON MARTINS DE SOUZA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Hárliton Martins</dc:creator>
  <cp:lastModifiedBy>Hárliton Martins</cp:lastModifiedBy>
  <cp:revision>113</cp:revision>
  <dcterms:modified xsi:type="dcterms:W3CDTF">2025-07-15T02:46:01Z</dcterms:modified>
</cp:coreProperties>
</file>